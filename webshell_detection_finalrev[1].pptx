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7" r:id="rId4"/>
    <p:sldId id="259" r:id="rId5"/>
    <p:sldId id="269" r:id="rId6"/>
    <p:sldId id="270" r:id="rId7"/>
    <p:sldId id="271" r:id="rId8"/>
    <p:sldId id="272" r:id="rId9"/>
    <p:sldId id="273" r:id="rId10"/>
    <p:sldId id="266" r:id="rId11"/>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11500" b="1" i="0">
                <a:solidFill>
                  <a:srgbClr val="3F3C3D"/>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50" b="0" i="0">
                <a:solidFill>
                  <a:srgbClr val="535353"/>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6/10/2025</a:t>
            </a:fld>
            <a:endParaRPr lang="en-US"/>
          </a:p>
        </p:txBody>
      </p:sp>
      <p:sp>
        <p:nvSpPr>
          <p:cNvPr id="6" name="Holder 6"/>
          <p:cNvSpPr>
            <a:spLocks noGrp="1"/>
          </p:cNvSpPr>
          <p:nvPr>
            <p:ph type="sldNum" sz="quarter" idx="7"/>
          </p:nvPr>
        </p:nvSpPr>
        <p:spPr/>
        <p:txBody>
          <a:bodyPr lIns="0" tIns="0" rIns="0" bIns="0"/>
          <a:lstStyle>
            <a:lvl1pPr>
              <a:defRPr sz="4750" b="0" i="0">
                <a:solidFill>
                  <a:srgbClr val="535353"/>
                </a:solidFill>
                <a:latin typeface="Arial Black"/>
                <a:cs typeface="Arial Black"/>
              </a:defRPr>
            </a:lvl1pPr>
          </a:lstStyle>
          <a:p>
            <a:pPr marL="12700">
              <a:lnSpc>
                <a:spcPct val="100000"/>
              </a:lnSpc>
              <a:spcBef>
                <a:spcPts val="425"/>
              </a:spcBef>
            </a:pPr>
            <a:r>
              <a:rPr spc="-25" dirty="0"/>
              <a:t>0</a:t>
            </a: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500" b="1" i="0">
                <a:solidFill>
                  <a:srgbClr val="3F3C3D"/>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3250" b="0" i="0">
                <a:solidFill>
                  <a:srgbClr val="535353"/>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6/10/2025</a:t>
            </a:fld>
            <a:endParaRPr lang="en-US"/>
          </a:p>
        </p:txBody>
      </p:sp>
      <p:sp>
        <p:nvSpPr>
          <p:cNvPr id="6" name="Holder 6"/>
          <p:cNvSpPr>
            <a:spLocks noGrp="1"/>
          </p:cNvSpPr>
          <p:nvPr>
            <p:ph type="sldNum" sz="quarter" idx="7"/>
          </p:nvPr>
        </p:nvSpPr>
        <p:spPr/>
        <p:txBody>
          <a:bodyPr lIns="0" tIns="0" rIns="0" bIns="0"/>
          <a:lstStyle>
            <a:lvl1pPr>
              <a:defRPr sz="4750" b="0" i="0">
                <a:solidFill>
                  <a:srgbClr val="535353"/>
                </a:solidFill>
                <a:latin typeface="Arial Black"/>
                <a:cs typeface="Arial Black"/>
              </a:defRPr>
            </a:lvl1pPr>
          </a:lstStyle>
          <a:p>
            <a:pPr marL="12700">
              <a:lnSpc>
                <a:spcPct val="100000"/>
              </a:lnSpc>
              <a:spcBef>
                <a:spcPts val="425"/>
              </a:spcBef>
            </a:pPr>
            <a:r>
              <a:rPr spc="-25" dirty="0"/>
              <a:t>0</a:t>
            </a: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500" b="1" i="0">
                <a:solidFill>
                  <a:srgbClr val="3F3C3D"/>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6/10/2025</a:t>
            </a:fld>
            <a:endParaRPr lang="en-US"/>
          </a:p>
        </p:txBody>
      </p:sp>
      <p:sp>
        <p:nvSpPr>
          <p:cNvPr id="7" name="Holder 7"/>
          <p:cNvSpPr>
            <a:spLocks noGrp="1"/>
          </p:cNvSpPr>
          <p:nvPr>
            <p:ph type="sldNum" sz="quarter" idx="7"/>
          </p:nvPr>
        </p:nvSpPr>
        <p:spPr/>
        <p:txBody>
          <a:bodyPr lIns="0" tIns="0" rIns="0" bIns="0"/>
          <a:lstStyle>
            <a:lvl1pPr>
              <a:defRPr sz="4750" b="0" i="0">
                <a:solidFill>
                  <a:srgbClr val="535353"/>
                </a:solidFill>
                <a:latin typeface="Arial Black"/>
                <a:cs typeface="Arial Black"/>
              </a:defRPr>
            </a:lvl1pPr>
          </a:lstStyle>
          <a:p>
            <a:pPr marL="12700">
              <a:lnSpc>
                <a:spcPct val="100000"/>
              </a:lnSpc>
              <a:spcBef>
                <a:spcPts val="425"/>
              </a:spcBef>
            </a:pPr>
            <a:r>
              <a:rPr spc="-25" dirty="0"/>
              <a:t>0</a:t>
            </a: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500" b="1" i="0">
                <a:solidFill>
                  <a:srgbClr val="3F3C3D"/>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6/10/2025</a:t>
            </a:fld>
            <a:endParaRPr lang="en-US"/>
          </a:p>
        </p:txBody>
      </p:sp>
      <p:sp>
        <p:nvSpPr>
          <p:cNvPr id="5" name="Holder 5"/>
          <p:cNvSpPr>
            <a:spLocks noGrp="1"/>
          </p:cNvSpPr>
          <p:nvPr>
            <p:ph type="sldNum" sz="quarter" idx="7"/>
          </p:nvPr>
        </p:nvSpPr>
        <p:spPr/>
        <p:txBody>
          <a:bodyPr lIns="0" tIns="0" rIns="0" bIns="0"/>
          <a:lstStyle>
            <a:lvl1pPr>
              <a:defRPr sz="4750" b="0" i="0">
                <a:solidFill>
                  <a:srgbClr val="535353"/>
                </a:solidFill>
                <a:latin typeface="Arial Black"/>
                <a:cs typeface="Arial Black"/>
              </a:defRPr>
            </a:lvl1pPr>
          </a:lstStyle>
          <a:p>
            <a:pPr marL="12700">
              <a:lnSpc>
                <a:spcPct val="100000"/>
              </a:lnSpc>
              <a:spcBef>
                <a:spcPts val="425"/>
              </a:spcBef>
            </a:pPr>
            <a:r>
              <a:rPr spc="-25" dirty="0"/>
              <a:t>0</a:t>
            </a: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6/10/2025</a:t>
            </a:fld>
            <a:endParaRPr lang="en-US"/>
          </a:p>
        </p:txBody>
      </p:sp>
      <p:sp>
        <p:nvSpPr>
          <p:cNvPr id="4" name="Holder 4"/>
          <p:cNvSpPr>
            <a:spLocks noGrp="1"/>
          </p:cNvSpPr>
          <p:nvPr>
            <p:ph type="sldNum" sz="quarter" idx="7"/>
          </p:nvPr>
        </p:nvSpPr>
        <p:spPr/>
        <p:txBody>
          <a:bodyPr lIns="0" tIns="0" rIns="0" bIns="0"/>
          <a:lstStyle>
            <a:lvl1pPr>
              <a:defRPr sz="4750" b="0" i="0">
                <a:solidFill>
                  <a:srgbClr val="535353"/>
                </a:solidFill>
                <a:latin typeface="Arial Black"/>
                <a:cs typeface="Arial Black"/>
              </a:defRPr>
            </a:lvl1pPr>
          </a:lstStyle>
          <a:p>
            <a:pPr marL="12700">
              <a:lnSpc>
                <a:spcPct val="100000"/>
              </a:lnSpc>
              <a:spcBef>
                <a:spcPts val="425"/>
              </a:spcBef>
            </a:pPr>
            <a:r>
              <a:rPr spc="-25" dirty="0"/>
              <a:t>0</a:t>
            </a: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18" Type="http://schemas.openxmlformats.org/officeDocument/2006/relationships/image" Target="../media/image12.png"/><Relationship Id="rId26" Type="http://schemas.openxmlformats.org/officeDocument/2006/relationships/image" Target="../media/image20.png"/><Relationship Id="rId3" Type="http://schemas.openxmlformats.org/officeDocument/2006/relationships/slideLayout" Target="../slideLayouts/slideLayout3.xml"/><Relationship Id="rId21" Type="http://schemas.openxmlformats.org/officeDocument/2006/relationships/image" Target="../media/image15.png"/><Relationship Id="rId7" Type="http://schemas.openxmlformats.org/officeDocument/2006/relationships/image" Target="../media/image1.png"/><Relationship Id="rId12" Type="http://schemas.openxmlformats.org/officeDocument/2006/relationships/image" Target="../media/image6.png"/><Relationship Id="rId17" Type="http://schemas.openxmlformats.org/officeDocument/2006/relationships/image" Target="../media/image11.png"/><Relationship Id="rId25" Type="http://schemas.openxmlformats.org/officeDocument/2006/relationships/image" Target="../media/image19.png"/><Relationship Id="rId2" Type="http://schemas.openxmlformats.org/officeDocument/2006/relationships/slideLayout" Target="../slideLayouts/slideLayout2.xml"/><Relationship Id="rId16" Type="http://schemas.openxmlformats.org/officeDocument/2006/relationships/image" Target="../media/image10.png"/><Relationship Id="rId20" Type="http://schemas.openxmlformats.org/officeDocument/2006/relationships/image" Target="../media/image14.png"/><Relationship Id="rId29"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24" Type="http://schemas.openxmlformats.org/officeDocument/2006/relationships/image" Target="../media/image18.png"/><Relationship Id="rId5" Type="http://schemas.openxmlformats.org/officeDocument/2006/relationships/slideLayout" Target="../slideLayouts/slideLayout5.xml"/><Relationship Id="rId15" Type="http://schemas.openxmlformats.org/officeDocument/2006/relationships/image" Target="../media/image9.png"/><Relationship Id="rId23" Type="http://schemas.openxmlformats.org/officeDocument/2006/relationships/image" Target="../media/image17.png"/><Relationship Id="rId28" Type="http://schemas.openxmlformats.org/officeDocument/2006/relationships/image" Target="../media/image22.png"/><Relationship Id="rId10" Type="http://schemas.openxmlformats.org/officeDocument/2006/relationships/image" Target="../media/image4.png"/><Relationship Id="rId19" Type="http://schemas.openxmlformats.org/officeDocument/2006/relationships/image" Target="../media/image13.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 Id="rId22" Type="http://schemas.openxmlformats.org/officeDocument/2006/relationships/image" Target="../media/image16.png"/><Relationship Id="rId27" Type="http://schemas.openxmlformats.org/officeDocument/2006/relationships/image" Target="../media/image2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E8E8E8"/>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3296" y="0"/>
            <a:ext cx="2400299" cy="2947365"/>
          </a:xfrm>
          <a:prstGeom prst="rect">
            <a:avLst/>
          </a:prstGeom>
        </p:spPr>
      </p:pic>
      <p:pic>
        <p:nvPicPr>
          <p:cNvPr id="18" name="bg object 18"/>
          <p:cNvPicPr/>
          <p:nvPr/>
        </p:nvPicPr>
        <p:blipFill>
          <a:blip r:embed="rId8" cstate="print"/>
          <a:stretch>
            <a:fillRect/>
          </a:stretch>
        </p:blipFill>
        <p:spPr>
          <a:xfrm>
            <a:off x="6915" y="0"/>
            <a:ext cx="2349499" cy="3009870"/>
          </a:xfrm>
          <a:prstGeom prst="rect">
            <a:avLst/>
          </a:prstGeom>
        </p:spPr>
      </p:pic>
      <p:pic>
        <p:nvPicPr>
          <p:cNvPr id="19" name="bg object 19"/>
          <p:cNvPicPr/>
          <p:nvPr/>
        </p:nvPicPr>
        <p:blipFill>
          <a:blip r:embed="rId9" cstate="print"/>
          <a:stretch>
            <a:fillRect/>
          </a:stretch>
        </p:blipFill>
        <p:spPr>
          <a:xfrm>
            <a:off x="3765" y="0"/>
            <a:ext cx="2298699" cy="3061123"/>
          </a:xfrm>
          <a:prstGeom prst="rect">
            <a:avLst/>
          </a:prstGeom>
        </p:spPr>
      </p:pic>
      <p:pic>
        <p:nvPicPr>
          <p:cNvPr id="20" name="bg object 20"/>
          <p:cNvPicPr/>
          <p:nvPr/>
        </p:nvPicPr>
        <p:blipFill>
          <a:blip r:embed="rId10" cstate="print"/>
          <a:stretch>
            <a:fillRect/>
          </a:stretch>
        </p:blipFill>
        <p:spPr>
          <a:xfrm>
            <a:off x="10720" y="0"/>
            <a:ext cx="2247899" cy="3121204"/>
          </a:xfrm>
          <a:prstGeom prst="rect">
            <a:avLst/>
          </a:prstGeom>
        </p:spPr>
      </p:pic>
      <p:pic>
        <p:nvPicPr>
          <p:cNvPr id="21" name="bg object 21"/>
          <p:cNvPicPr/>
          <p:nvPr/>
        </p:nvPicPr>
        <p:blipFill>
          <a:blip r:embed="rId11" cstate="print"/>
          <a:stretch>
            <a:fillRect/>
          </a:stretch>
        </p:blipFill>
        <p:spPr>
          <a:xfrm>
            <a:off x="8139" y="0"/>
            <a:ext cx="2197099" cy="3173804"/>
          </a:xfrm>
          <a:prstGeom prst="rect">
            <a:avLst/>
          </a:prstGeom>
        </p:spPr>
      </p:pic>
      <p:pic>
        <p:nvPicPr>
          <p:cNvPr id="22" name="bg object 22"/>
          <p:cNvPicPr/>
          <p:nvPr/>
        </p:nvPicPr>
        <p:blipFill>
          <a:blip r:embed="rId12" cstate="print"/>
          <a:stretch>
            <a:fillRect/>
          </a:stretch>
        </p:blipFill>
        <p:spPr>
          <a:xfrm>
            <a:off x="9099" y="0"/>
            <a:ext cx="2146299" cy="3228723"/>
          </a:xfrm>
          <a:prstGeom prst="rect">
            <a:avLst/>
          </a:prstGeom>
        </p:spPr>
      </p:pic>
      <p:pic>
        <p:nvPicPr>
          <p:cNvPr id="23" name="bg object 23"/>
          <p:cNvPicPr/>
          <p:nvPr/>
        </p:nvPicPr>
        <p:blipFill>
          <a:blip r:embed="rId13" cstate="print"/>
          <a:stretch>
            <a:fillRect/>
          </a:stretch>
        </p:blipFill>
        <p:spPr>
          <a:xfrm>
            <a:off x="4543" y="0"/>
            <a:ext cx="2095499" cy="3275841"/>
          </a:xfrm>
          <a:prstGeom prst="rect">
            <a:avLst/>
          </a:prstGeom>
        </p:spPr>
      </p:pic>
      <p:pic>
        <p:nvPicPr>
          <p:cNvPr id="24" name="bg object 24"/>
          <p:cNvPicPr/>
          <p:nvPr/>
        </p:nvPicPr>
        <p:blipFill>
          <a:blip r:embed="rId14" cstate="print"/>
          <a:stretch>
            <a:fillRect/>
          </a:stretch>
        </p:blipFill>
        <p:spPr>
          <a:xfrm>
            <a:off x="0" y="0"/>
            <a:ext cx="2045488" cy="3327672"/>
          </a:xfrm>
          <a:prstGeom prst="rect">
            <a:avLst/>
          </a:prstGeom>
        </p:spPr>
      </p:pic>
      <p:pic>
        <p:nvPicPr>
          <p:cNvPr id="25" name="bg object 25"/>
          <p:cNvPicPr/>
          <p:nvPr/>
        </p:nvPicPr>
        <p:blipFill>
          <a:blip r:embed="rId15" cstate="print"/>
          <a:stretch>
            <a:fillRect/>
          </a:stretch>
        </p:blipFill>
        <p:spPr>
          <a:xfrm>
            <a:off x="8034" y="0"/>
            <a:ext cx="1981199" cy="3376958"/>
          </a:xfrm>
          <a:prstGeom prst="rect">
            <a:avLst/>
          </a:prstGeom>
        </p:spPr>
      </p:pic>
      <p:pic>
        <p:nvPicPr>
          <p:cNvPr id="26" name="bg object 26"/>
          <p:cNvPicPr/>
          <p:nvPr/>
        </p:nvPicPr>
        <p:blipFill>
          <a:blip r:embed="rId16" cstate="print"/>
          <a:stretch>
            <a:fillRect/>
          </a:stretch>
        </p:blipFill>
        <p:spPr>
          <a:xfrm>
            <a:off x="5819" y="0"/>
            <a:ext cx="1930399" cy="3432984"/>
          </a:xfrm>
          <a:prstGeom prst="rect">
            <a:avLst/>
          </a:prstGeom>
        </p:spPr>
      </p:pic>
      <p:pic>
        <p:nvPicPr>
          <p:cNvPr id="27" name="bg object 27"/>
          <p:cNvPicPr/>
          <p:nvPr/>
        </p:nvPicPr>
        <p:blipFill>
          <a:blip r:embed="rId17" cstate="print"/>
          <a:stretch>
            <a:fillRect/>
          </a:stretch>
        </p:blipFill>
        <p:spPr>
          <a:xfrm>
            <a:off x="11593" y="0"/>
            <a:ext cx="1866899" cy="3482927"/>
          </a:xfrm>
          <a:prstGeom prst="rect">
            <a:avLst/>
          </a:prstGeom>
        </p:spPr>
      </p:pic>
      <p:pic>
        <p:nvPicPr>
          <p:cNvPr id="28" name="bg object 28"/>
          <p:cNvPicPr/>
          <p:nvPr/>
        </p:nvPicPr>
        <p:blipFill>
          <a:blip r:embed="rId18" cstate="print"/>
          <a:stretch>
            <a:fillRect/>
          </a:stretch>
        </p:blipFill>
        <p:spPr>
          <a:xfrm>
            <a:off x="3762" y="0"/>
            <a:ext cx="1816099" cy="3533412"/>
          </a:xfrm>
          <a:prstGeom prst="rect">
            <a:avLst/>
          </a:prstGeom>
        </p:spPr>
      </p:pic>
      <p:pic>
        <p:nvPicPr>
          <p:cNvPr id="29" name="bg object 29"/>
          <p:cNvPicPr/>
          <p:nvPr/>
        </p:nvPicPr>
        <p:blipFill>
          <a:blip r:embed="rId19" cstate="print"/>
          <a:stretch>
            <a:fillRect/>
          </a:stretch>
        </p:blipFill>
        <p:spPr>
          <a:xfrm>
            <a:off x="12036" y="0"/>
            <a:ext cx="2044699" cy="3256683"/>
          </a:xfrm>
          <a:prstGeom prst="rect">
            <a:avLst/>
          </a:prstGeom>
        </p:spPr>
      </p:pic>
      <p:pic>
        <p:nvPicPr>
          <p:cNvPr id="30" name="bg object 30"/>
          <p:cNvPicPr/>
          <p:nvPr/>
        </p:nvPicPr>
        <p:blipFill>
          <a:blip r:embed="rId20" cstate="print"/>
          <a:stretch>
            <a:fillRect/>
          </a:stretch>
        </p:blipFill>
        <p:spPr>
          <a:xfrm>
            <a:off x="11864" y="0"/>
            <a:ext cx="2273299" cy="2984751"/>
          </a:xfrm>
          <a:prstGeom prst="rect">
            <a:avLst/>
          </a:prstGeom>
        </p:spPr>
      </p:pic>
      <p:pic>
        <p:nvPicPr>
          <p:cNvPr id="31" name="bg object 31"/>
          <p:cNvPicPr/>
          <p:nvPr/>
        </p:nvPicPr>
        <p:blipFill>
          <a:blip r:embed="rId21" cstate="print"/>
          <a:stretch>
            <a:fillRect/>
          </a:stretch>
        </p:blipFill>
        <p:spPr>
          <a:xfrm>
            <a:off x="9178" y="0"/>
            <a:ext cx="2527299" cy="2732825"/>
          </a:xfrm>
          <a:prstGeom prst="rect">
            <a:avLst/>
          </a:prstGeom>
        </p:spPr>
      </p:pic>
      <p:pic>
        <p:nvPicPr>
          <p:cNvPr id="32" name="bg object 32"/>
          <p:cNvPicPr/>
          <p:nvPr/>
        </p:nvPicPr>
        <p:blipFill>
          <a:blip r:embed="rId22" cstate="print"/>
          <a:stretch>
            <a:fillRect/>
          </a:stretch>
        </p:blipFill>
        <p:spPr>
          <a:xfrm>
            <a:off x="9554" y="0"/>
            <a:ext cx="2768599" cy="2466557"/>
          </a:xfrm>
          <a:prstGeom prst="rect">
            <a:avLst/>
          </a:prstGeom>
        </p:spPr>
      </p:pic>
      <p:pic>
        <p:nvPicPr>
          <p:cNvPr id="33" name="bg object 33"/>
          <p:cNvPicPr/>
          <p:nvPr/>
        </p:nvPicPr>
        <p:blipFill>
          <a:blip r:embed="rId23" cstate="print"/>
          <a:stretch>
            <a:fillRect/>
          </a:stretch>
        </p:blipFill>
        <p:spPr>
          <a:xfrm>
            <a:off x="10309" y="0"/>
            <a:ext cx="3022599" cy="2207224"/>
          </a:xfrm>
          <a:prstGeom prst="rect">
            <a:avLst/>
          </a:prstGeom>
        </p:spPr>
      </p:pic>
      <p:pic>
        <p:nvPicPr>
          <p:cNvPr id="34" name="bg object 34"/>
          <p:cNvPicPr/>
          <p:nvPr/>
        </p:nvPicPr>
        <p:blipFill>
          <a:blip r:embed="rId24" cstate="print"/>
          <a:stretch>
            <a:fillRect/>
          </a:stretch>
        </p:blipFill>
        <p:spPr>
          <a:xfrm>
            <a:off x="9953" y="0"/>
            <a:ext cx="3289299" cy="1955456"/>
          </a:xfrm>
          <a:prstGeom prst="rect">
            <a:avLst/>
          </a:prstGeom>
        </p:spPr>
      </p:pic>
      <p:pic>
        <p:nvPicPr>
          <p:cNvPr id="35" name="bg object 35"/>
          <p:cNvPicPr/>
          <p:nvPr/>
        </p:nvPicPr>
        <p:blipFill>
          <a:blip r:embed="rId25" cstate="print"/>
          <a:stretch>
            <a:fillRect/>
          </a:stretch>
        </p:blipFill>
        <p:spPr>
          <a:xfrm>
            <a:off x="3609" y="0"/>
            <a:ext cx="3555999" cy="1700477"/>
          </a:xfrm>
          <a:prstGeom prst="rect">
            <a:avLst/>
          </a:prstGeom>
        </p:spPr>
      </p:pic>
      <p:pic>
        <p:nvPicPr>
          <p:cNvPr id="36" name="bg object 36"/>
          <p:cNvPicPr/>
          <p:nvPr/>
        </p:nvPicPr>
        <p:blipFill>
          <a:blip r:embed="rId26" cstate="print"/>
          <a:stretch>
            <a:fillRect/>
          </a:stretch>
        </p:blipFill>
        <p:spPr>
          <a:xfrm>
            <a:off x="8394" y="0"/>
            <a:ext cx="3822699" cy="1447295"/>
          </a:xfrm>
          <a:prstGeom prst="rect">
            <a:avLst/>
          </a:prstGeom>
        </p:spPr>
      </p:pic>
      <p:pic>
        <p:nvPicPr>
          <p:cNvPr id="37" name="bg object 37"/>
          <p:cNvPicPr/>
          <p:nvPr/>
        </p:nvPicPr>
        <p:blipFill>
          <a:blip r:embed="rId27" cstate="print"/>
          <a:stretch>
            <a:fillRect/>
          </a:stretch>
        </p:blipFill>
        <p:spPr>
          <a:xfrm>
            <a:off x="5166" y="0"/>
            <a:ext cx="4102099" cy="1195252"/>
          </a:xfrm>
          <a:prstGeom prst="rect">
            <a:avLst/>
          </a:prstGeom>
        </p:spPr>
      </p:pic>
      <p:pic>
        <p:nvPicPr>
          <p:cNvPr id="38" name="bg object 38"/>
          <p:cNvPicPr/>
          <p:nvPr/>
        </p:nvPicPr>
        <p:blipFill>
          <a:blip r:embed="rId28" cstate="print"/>
          <a:stretch>
            <a:fillRect/>
          </a:stretch>
        </p:blipFill>
        <p:spPr>
          <a:xfrm>
            <a:off x="2939" y="0"/>
            <a:ext cx="4381499" cy="993088"/>
          </a:xfrm>
          <a:prstGeom prst="rect">
            <a:avLst/>
          </a:prstGeom>
        </p:spPr>
      </p:pic>
      <p:pic>
        <p:nvPicPr>
          <p:cNvPr id="39" name="bg object 39"/>
          <p:cNvPicPr/>
          <p:nvPr/>
        </p:nvPicPr>
        <p:blipFill>
          <a:blip r:embed="rId29" cstate="print"/>
          <a:stretch>
            <a:fillRect/>
          </a:stretch>
        </p:blipFill>
        <p:spPr>
          <a:xfrm>
            <a:off x="0" y="0"/>
            <a:ext cx="4661539" cy="892269"/>
          </a:xfrm>
          <a:prstGeom prst="rect">
            <a:avLst/>
          </a:prstGeom>
        </p:spPr>
      </p:pic>
      <p:sp>
        <p:nvSpPr>
          <p:cNvPr id="2" name="Holder 2"/>
          <p:cNvSpPr>
            <a:spLocks noGrp="1"/>
          </p:cNvSpPr>
          <p:nvPr>
            <p:ph type="title"/>
          </p:nvPr>
        </p:nvSpPr>
        <p:spPr>
          <a:xfrm>
            <a:off x="3478090" y="2069826"/>
            <a:ext cx="11331819" cy="5482177"/>
          </a:xfrm>
          <a:prstGeom prst="rect">
            <a:avLst/>
          </a:prstGeom>
        </p:spPr>
        <p:txBody>
          <a:bodyPr wrap="square" lIns="0" tIns="0" rIns="0" bIns="0">
            <a:spAutoFit/>
          </a:bodyPr>
          <a:lstStyle>
            <a:lvl1pPr>
              <a:defRPr sz="11500" b="1" i="0">
                <a:solidFill>
                  <a:srgbClr val="3F3C3D"/>
                </a:solidFill>
                <a:latin typeface="Tahoma"/>
                <a:cs typeface="Tahoma"/>
              </a:defRPr>
            </a:lvl1pPr>
          </a:lstStyle>
          <a:p>
            <a:endParaRPr/>
          </a:p>
        </p:txBody>
      </p:sp>
      <p:sp>
        <p:nvSpPr>
          <p:cNvPr id="3" name="Holder 3"/>
          <p:cNvSpPr>
            <a:spLocks noGrp="1"/>
          </p:cNvSpPr>
          <p:nvPr>
            <p:ph type="body" idx="1"/>
          </p:nvPr>
        </p:nvSpPr>
        <p:spPr>
          <a:xfrm>
            <a:off x="4158984" y="3883055"/>
            <a:ext cx="11331575" cy="3825875"/>
          </a:xfrm>
          <a:prstGeom prst="rect">
            <a:avLst/>
          </a:prstGeom>
        </p:spPr>
        <p:txBody>
          <a:bodyPr wrap="square" lIns="0" tIns="0" rIns="0" bIns="0">
            <a:spAutoFit/>
          </a:bodyPr>
          <a:lstStyle>
            <a:lvl1pPr>
              <a:defRPr sz="3250" b="0" i="0">
                <a:solidFill>
                  <a:srgbClr val="535353"/>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6/10/2025</a:t>
            </a:fld>
            <a:endParaRPr lang="en-US"/>
          </a:p>
        </p:txBody>
      </p:sp>
      <p:sp>
        <p:nvSpPr>
          <p:cNvPr id="6" name="Holder 6"/>
          <p:cNvSpPr>
            <a:spLocks noGrp="1"/>
          </p:cNvSpPr>
          <p:nvPr>
            <p:ph type="sldNum" sz="quarter" idx="7"/>
          </p:nvPr>
        </p:nvSpPr>
        <p:spPr>
          <a:xfrm>
            <a:off x="16432389" y="9006877"/>
            <a:ext cx="835659" cy="899159"/>
          </a:xfrm>
          <a:prstGeom prst="rect">
            <a:avLst/>
          </a:prstGeom>
        </p:spPr>
        <p:txBody>
          <a:bodyPr wrap="square" lIns="0" tIns="0" rIns="0" bIns="0">
            <a:spAutoFit/>
          </a:bodyPr>
          <a:lstStyle>
            <a:lvl1pPr>
              <a:defRPr sz="4750" b="0" i="0">
                <a:solidFill>
                  <a:srgbClr val="535353"/>
                </a:solidFill>
                <a:latin typeface="Arial Black"/>
                <a:cs typeface="Arial Black"/>
              </a:defRPr>
            </a:lvl1pPr>
          </a:lstStyle>
          <a:p>
            <a:pPr marL="12700">
              <a:lnSpc>
                <a:spcPct val="100000"/>
              </a:lnSpc>
              <a:spcBef>
                <a:spcPts val="425"/>
              </a:spcBef>
            </a:pPr>
            <a:r>
              <a:rPr spc="-25" dirty="0"/>
              <a:t>0</a:t>
            </a: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2.jp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2312" y="6882982"/>
            <a:ext cx="4585687" cy="3404016"/>
          </a:xfrm>
          <a:prstGeom prst="rect">
            <a:avLst/>
          </a:prstGeom>
        </p:spPr>
      </p:pic>
      <p:grpSp>
        <p:nvGrpSpPr>
          <p:cNvPr id="3" name="object 3"/>
          <p:cNvGrpSpPr/>
          <p:nvPr/>
        </p:nvGrpSpPr>
        <p:grpSpPr>
          <a:xfrm>
            <a:off x="0" y="6597918"/>
            <a:ext cx="4175760" cy="3689350"/>
            <a:chOff x="0" y="6597918"/>
            <a:chExt cx="4175760" cy="3689350"/>
          </a:xfrm>
        </p:grpSpPr>
        <p:sp>
          <p:nvSpPr>
            <p:cNvPr id="4" name="object 4"/>
            <p:cNvSpPr/>
            <p:nvPr/>
          </p:nvSpPr>
          <p:spPr>
            <a:xfrm>
              <a:off x="0" y="6597918"/>
              <a:ext cx="4175760" cy="3689350"/>
            </a:xfrm>
            <a:custGeom>
              <a:avLst/>
              <a:gdLst/>
              <a:ahLst/>
              <a:cxnLst/>
              <a:rect l="l" t="t" r="r" b="b"/>
              <a:pathLst>
                <a:path w="4175760" h="3689350">
                  <a:moveTo>
                    <a:pt x="4175440" y="3689081"/>
                  </a:moveTo>
                  <a:lnTo>
                    <a:pt x="0" y="0"/>
                  </a:lnTo>
                  <a:lnTo>
                    <a:pt x="0" y="3689081"/>
                  </a:lnTo>
                  <a:lnTo>
                    <a:pt x="4175440" y="3689081"/>
                  </a:lnTo>
                  <a:close/>
                </a:path>
              </a:pathLst>
            </a:custGeom>
            <a:solidFill>
              <a:srgbClr val="A6A6A6"/>
            </a:solidFill>
          </p:spPr>
          <p:txBody>
            <a:bodyPr wrap="square" lIns="0" tIns="0" rIns="0" bIns="0" rtlCol="0"/>
            <a:lstStyle/>
            <a:p>
              <a:endParaRPr/>
            </a:p>
          </p:txBody>
        </p:sp>
        <p:sp>
          <p:nvSpPr>
            <p:cNvPr id="5" name="object 5"/>
            <p:cNvSpPr/>
            <p:nvPr/>
          </p:nvSpPr>
          <p:spPr>
            <a:xfrm>
              <a:off x="0" y="6727806"/>
              <a:ext cx="3559810" cy="3559810"/>
            </a:xfrm>
            <a:custGeom>
              <a:avLst/>
              <a:gdLst/>
              <a:ahLst/>
              <a:cxnLst/>
              <a:rect l="l" t="t" r="r" b="b"/>
              <a:pathLst>
                <a:path w="3559810" h="3559809">
                  <a:moveTo>
                    <a:pt x="0" y="3559193"/>
                  </a:moveTo>
                  <a:lnTo>
                    <a:pt x="3559193" y="3559193"/>
                  </a:lnTo>
                  <a:lnTo>
                    <a:pt x="0" y="0"/>
                  </a:lnTo>
                  <a:lnTo>
                    <a:pt x="0" y="3559193"/>
                  </a:lnTo>
                  <a:close/>
                </a:path>
              </a:pathLst>
            </a:custGeom>
            <a:solidFill>
              <a:srgbClr val="D9D9D9"/>
            </a:solidFill>
          </p:spPr>
          <p:txBody>
            <a:bodyPr wrap="square" lIns="0" tIns="0" rIns="0" bIns="0" rtlCol="0"/>
            <a:lstStyle/>
            <a:p>
              <a:endParaRPr/>
            </a:p>
          </p:txBody>
        </p:sp>
      </p:grpSp>
      <p:grpSp>
        <p:nvGrpSpPr>
          <p:cNvPr id="6" name="object 6"/>
          <p:cNvGrpSpPr/>
          <p:nvPr/>
        </p:nvGrpSpPr>
        <p:grpSpPr>
          <a:xfrm>
            <a:off x="15488054" y="0"/>
            <a:ext cx="2800350" cy="2526030"/>
            <a:chOff x="15488054" y="0"/>
            <a:chExt cx="2800350" cy="2526030"/>
          </a:xfrm>
        </p:grpSpPr>
        <p:sp>
          <p:nvSpPr>
            <p:cNvPr id="7" name="object 7"/>
            <p:cNvSpPr/>
            <p:nvPr/>
          </p:nvSpPr>
          <p:spPr>
            <a:xfrm>
              <a:off x="15488054" y="0"/>
              <a:ext cx="2800350" cy="2526030"/>
            </a:xfrm>
            <a:custGeom>
              <a:avLst/>
              <a:gdLst/>
              <a:ahLst/>
              <a:cxnLst/>
              <a:rect l="l" t="t" r="r" b="b"/>
              <a:pathLst>
                <a:path w="2800350" h="2526030">
                  <a:moveTo>
                    <a:pt x="0" y="0"/>
                  </a:moveTo>
                  <a:lnTo>
                    <a:pt x="2799944" y="2525885"/>
                  </a:lnTo>
                  <a:lnTo>
                    <a:pt x="2799944" y="0"/>
                  </a:lnTo>
                  <a:lnTo>
                    <a:pt x="0" y="0"/>
                  </a:lnTo>
                  <a:close/>
                </a:path>
              </a:pathLst>
            </a:custGeom>
            <a:solidFill>
              <a:srgbClr val="A6A6A6"/>
            </a:solidFill>
          </p:spPr>
          <p:txBody>
            <a:bodyPr wrap="square" lIns="0" tIns="0" rIns="0" bIns="0" rtlCol="0"/>
            <a:lstStyle/>
            <a:p>
              <a:endParaRPr/>
            </a:p>
          </p:txBody>
        </p:sp>
        <p:sp>
          <p:nvSpPr>
            <p:cNvPr id="8" name="object 8"/>
            <p:cNvSpPr/>
            <p:nvPr/>
          </p:nvSpPr>
          <p:spPr>
            <a:xfrm>
              <a:off x="15844815" y="0"/>
              <a:ext cx="2443480" cy="2443480"/>
            </a:xfrm>
            <a:custGeom>
              <a:avLst/>
              <a:gdLst/>
              <a:ahLst/>
              <a:cxnLst/>
              <a:rect l="l" t="t" r="r" b="b"/>
              <a:pathLst>
                <a:path w="2443480" h="2443480">
                  <a:moveTo>
                    <a:pt x="2443184" y="0"/>
                  </a:moveTo>
                  <a:lnTo>
                    <a:pt x="0" y="0"/>
                  </a:lnTo>
                  <a:lnTo>
                    <a:pt x="2443184" y="2443184"/>
                  </a:lnTo>
                  <a:lnTo>
                    <a:pt x="2443184" y="0"/>
                  </a:lnTo>
                  <a:close/>
                </a:path>
              </a:pathLst>
            </a:custGeom>
            <a:solidFill>
              <a:srgbClr val="D9D9D9"/>
            </a:solidFill>
          </p:spPr>
          <p:txBody>
            <a:bodyPr wrap="square" lIns="0" tIns="0" rIns="0" bIns="0" rtlCol="0"/>
            <a:lstStyle/>
            <a:p>
              <a:endParaRPr/>
            </a:p>
          </p:txBody>
        </p:sp>
      </p:grpSp>
      <p:sp>
        <p:nvSpPr>
          <p:cNvPr id="9" name="object 9"/>
          <p:cNvSpPr txBox="1">
            <a:spLocks noGrp="1"/>
          </p:cNvSpPr>
          <p:nvPr>
            <p:ph type="title"/>
          </p:nvPr>
        </p:nvSpPr>
        <p:spPr>
          <a:xfrm>
            <a:off x="4178218" y="522243"/>
            <a:ext cx="11854180" cy="1860125"/>
          </a:xfrm>
          <a:prstGeom prst="rect">
            <a:avLst/>
          </a:prstGeom>
        </p:spPr>
        <p:txBody>
          <a:bodyPr vert="horz" wrap="square" lIns="0" tIns="13335" rIns="0" bIns="0" rtlCol="0">
            <a:spAutoFit/>
          </a:bodyPr>
          <a:lstStyle/>
          <a:p>
            <a:pPr algn="ctr" rtl="0">
              <a:spcBef>
                <a:spcPts val="105"/>
              </a:spcBef>
            </a:pPr>
            <a:r>
              <a:rPr lang="en-IN" sz="4000" b="1" i="0" u="none" strike="noStrike" kern="1200" cap="none" spc="0" baseline="0" dirty="0">
                <a:solidFill>
                  <a:schemeClr val="tx1"/>
                </a:solidFill>
                <a:uFillTx/>
                <a:latin typeface="Times New Roman" panose="02020603050405020304" pitchFamily="18" charset="0"/>
                <a:cs typeface="Times New Roman" panose="02020603050405020304" pitchFamily="18" charset="0"/>
              </a:rPr>
              <a:t>SHRI VISHNU ENGINEERING COLLEGE FOR WOMEN</a:t>
            </a:r>
            <a:r>
              <a:rPr lang="en-IN" sz="4000" b="0" i="0" u="none" strike="noStrike" kern="1200" cap="none" spc="0" baseline="0" dirty="0">
                <a:solidFill>
                  <a:schemeClr val="tx1"/>
                </a:solidFill>
                <a:uFillTx/>
                <a:latin typeface="Times New Roman" panose="02020603050405020304" pitchFamily="18" charset="0"/>
                <a:cs typeface="Times New Roman" panose="02020603050405020304" pitchFamily="18" charset="0"/>
              </a:rPr>
              <a:t>  </a:t>
            </a:r>
            <a:r>
              <a:rPr lang="en-IN" sz="4000" b="1" i="0" u="none" strike="noStrike" kern="1200" cap="none" spc="0" baseline="0" dirty="0">
                <a:solidFill>
                  <a:schemeClr val="tx1"/>
                </a:solidFill>
                <a:uFillTx/>
                <a:latin typeface="Times New Roman" panose="02020603050405020304" pitchFamily="18" charset="0"/>
                <a:cs typeface="Times New Roman" panose="02020603050405020304" pitchFamily="18" charset="0"/>
              </a:rPr>
              <a:t>AUTONOMOUS::BHIMAVARAM</a:t>
            </a:r>
            <a:br>
              <a:rPr lang="en-IN" sz="4000" b="1" i="0" u="none" strike="noStrike" kern="1200" cap="none" spc="0" baseline="0" dirty="0">
                <a:solidFill>
                  <a:schemeClr val="tx1"/>
                </a:solidFill>
                <a:uFillTx/>
                <a:latin typeface="Times New Roman" panose="02020603050405020304" pitchFamily="18" charset="0"/>
                <a:cs typeface="Times New Roman" panose="02020603050405020304" pitchFamily="18" charset="0"/>
              </a:rPr>
            </a:br>
            <a:endParaRPr sz="40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7170774" y="8231065"/>
            <a:ext cx="3946525" cy="493395"/>
          </a:xfrm>
          <a:prstGeom prst="rect">
            <a:avLst/>
          </a:prstGeom>
        </p:spPr>
        <p:txBody>
          <a:bodyPr vert="horz" wrap="square" lIns="0" tIns="14604" rIns="0" bIns="0" rtlCol="0">
            <a:spAutoFit/>
          </a:bodyPr>
          <a:lstStyle/>
          <a:p>
            <a:pPr marL="12700">
              <a:lnSpc>
                <a:spcPct val="100000"/>
              </a:lnSpc>
              <a:spcBef>
                <a:spcPts val="114"/>
              </a:spcBef>
            </a:pPr>
            <a:r>
              <a:rPr sz="3050" spc="114" dirty="0">
                <a:solidFill>
                  <a:srgbClr val="E8E8E8"/>
                </a:solidFill>
                <a:latin typeface="Lucida Sans Unicode"/>
                <a:cs typeface="Lucida Sans Unicode"/>
              </a:rPr>
              <a:t>reallygreatsite.com</a:t>
            </a:r>
            <a:endParaRPr sz="3050">
              <a:latin typeface="Lucida Sans Unicode"/>
              <a:cs typeface="Lucida Sans Unicode"/>
            </a:endParaRPr>
          </a:p>
        </p:txBody>
      </p:sp>
      <p:pic>
        <p:nvPicPr>
          <p:cNvPr id="14" name="Picture 7">
            <a:extLst>
              <a:ext uri="{FF2B5EF4-FFF2-40B4-BE49-F238E27FC236}">
                <a16:creationId xmlns:a16="http://schemas.microsoft.com/office/drawing/2014/main" id="{1B42ECF9-9C5F-6DE5-AF94-37E6A176BA4B}"/>
              </a:ext>
            </a:extLst>
          </p:cNvPr>
          <p:cNvPicPr>
            <a:picLocks noChangeAspect="1"/>
          </p:cNvPicPr>
          <p:nvPr/>
        </p:nvPicPr>
        <p:blipFill>
          <a:blip r:embed="rId3"/>
          <a:stretch>
            <a:fillRect/>
          </a:stretch>
        </p:blipFill>
        <p:spPr>
          <a:xfrm>
            <a:off x="1838643" y="190500"/>
            <a:ext cx="2188210" cy="2098184"/>
          </a:xfrm>
          <a:prstGeom prst="rect">
            <a:avLst/>
          </a:prstGeom>
          <a:noFill/>
          <a:ln cap="flat">
            <a:noFill/>
          </a:ln>
        </p:spPr>
      </p:pic>
      <p:sp>
        <p:nvSpPr>
          <p:cNvPr id="15" name="TextBox 14">
            <a:extLst>
              <a:ext uri="{FF2B5EF4-FFF2-40B4-BE49-F238E27FC236}">
                <a16:creationId xmlns:a16="http://schemas.microsoft.com/office/drawing/2014/main" id="{A424EB25-9C87-4083-CA4C-7D70C85DF8AD}"/>
              </a:ext>
            </a:extLst>
          </p:cNvPr>
          <p:cNvSpPr txBox="1"/>
          <p:nvPr/>
        </p:nvSpPr>
        <p:spPr>
          <a:xfrm>
            <a:off x="3530313" y="3098757"/>
            <a:ext cx="10515600" cy="1015663"/>
          </a:xfrm>
          <a:prstGeom prst="rect">
            <a:avLst/>
          </a:prstGeom>
          <a:noFill/>
        </p:spPr>
        <p:txBody>
          <a:bodyPr wrap="square" rtlCol="0">
            <a:spAutoFit/>
          </a:bodyPr>
          <a:lstStyle/>
          <a:p>
            <a:r>
              <a:rPr lang="en-US" sz="6000" dirty="0">
                <a:latin typeface="Times New Roman" panose="02020603050405020304" pitchFamily="18" charset="0"/>
                <a:cs typeface="Times New Roman" panose="02020603050405020304" pitchFamily="18" charset="0"/>
              </a:rPr>
              <a:t>WEB SHELL DETECTION</a:t>
            </a:r>
            <a:endParaRPr lang="en-IN" sz="6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4330DE7-9A5A-2883-22A9-BEB296E4D758}"/>
              </a:ext>
            </a:extLst>
          </p:cNvPr>
          <p:cNvSpPr txBox="1"/>
          <p:nvPr/>
        </p:nvSpPr>
        <p:spPr>
          <a:xfrm>
            <a:off x="11430000" y="5436515"/>
            <a:ext cx="3200400" cy="954107"/>
          </a:xfrm>
          <a:prstGeom prst="rect">
            <a:avLst/>
          </a:prstGeom>
          <a:noFill/>
        </p:spPr>
        <p:txBody>
          <a:bodyPr wrap="square" rtlCol="0">
            <a:spAutoFit/>
          </a:bodyPr>
          <a:lstStyle/>
          <a:p>
            <a:r>
              <a:rPr lang="en-US" sz="2800" b="1" i="0" u="none" strike="noStrike" kern="1200" cap="none" spc="0" baseline="0" dirty="0">
                <a:solidFill>
                  <a:schemeClr val="tx1"/>
                </a:solidFill>
                <a:uFillTx/>
                <a:latin typeface="Times New Roman" panose="02020603050405020304" pitchFamily="18" charset="0"/>
                <a:cs typeface="Times New Roman" panose="02020603050405020304" pitchFamily="18" charset="0"/>
              </a:rPr>
              <a:t>PRESENTED BY :</a:t>
            </a:r>
            <a:endParaRPr lang="en-IN" sz="2800" b="1" i="0" u="none" strike="noStrike" kern="1200" cap="none" spc="0" baseline="0" dirty="0">
              <a:solidFill>
                <a:schemeClr val="tx1"/>
              </a:solidFill>
              <a:uFillTx/>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D1862DB-E6FD-9E67-EB1E-F6D713A2FBBB}"/>
              </a:ext>
            </a:extLst>
          </p:cNvPr>
          <p:cNvSpPr txBox="1"/>
          <p:nvPr/>
        </p:nvSpPr>
        <p:spPr>
          <a:xfrm>
            <a:off x="14666365" y="5375787"/>
            <a:ext cx="3946525" cy="3970318"/>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600" i="0" u="none" strike="noStrike" kern="1200" cap="none" spc="0" baseline="0" dirty="0">
                <a:solidFill>
                  <a:schemeClr val="tx1"/>
                </a:solidFill>
                <a:uFillTx/>
                <a:latin typeface="Times New Roman" panose="02020603050405020304" pitchFamily="18" charset="0"/>
                <a:cs typeface="Times New Roman" panose="02020603050405020304" pitchFamily="18" charset="0"/>
              </a:rPr>
              <a:t>22B01A4627</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600" i="0" u="none" strike="noStrike" kern="1200" cap="none" spc="0" baseline="0" dirty="0">
                <a:solidFill>
                  <a:schemeClr val="tx1"/>
                </a:solidFill>
                <a:uFillTx/>
                <a:latin typeface="Times New Roman" panose="02020603050405020304" pitchFamily="18" charset="0"/>
                <a:cs typeface="Times New Roman" panose="02020603050405020304" pitchFamily="18" charset="0"/>
              </a:rPr>
              <a:t>22B01A4629</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600" i="0" u="none" strike="noStrike" kern="1200" cap="none" spc="0" baseline="0" dirty="0">
                <a:solidFill>
                  <a:schemeClr val="tx1"/>
                </a:solidFill>
                <a:uFillTx/>
                <a:latin typeface="Times New Roman" panose="02020603050405020304" pitchFamily="18" charset="0"/>
                <a:cs typeface="Times New Roman" panose="02020603050405020304" pitchFamily="18" charset="0"/>
              </a:rPr>
              <a:t>22B01A4637</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600" i="0" u="none" strike="noStrike" kern="1200" cap="none" spc="0" baseline="0" dirty="0">
                <a:solidFill>
                  <a:schemeClr val="tx1"/>
                </a:solidFill>
                <a:uFillTx/>
                <a:latin typeface="Times New Roman" panose="02020603050405020304" pitchFamily="18" charset="0"/>
                <a:cs typeface="Times New Roman" panose="02020603050405020304" pitchFamily="18" charset="0"/>
              </a:rPr>
              <a:t>22B01A4648</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600" i="0" u="none" strike="noStrike" kern="1200" cap="none" spc="0" baseline="0" dirty="0">
                <a:solidFill>
                  <a:schemeClr val="tx1"/>
                </a:solidFill>
                <a:uFillTx/>
                <a:latin typeface="Times New Roman" panose="02020603050405020304" pitchFamily="18" charset="0"/>
                <a:cs typeface="Times New Roman" panose="02020603050405020304" pitchFamily="18" charset="0"/>
              </a:rPr>
              <a:t>23B05A4606</a:t>
            </a:r>
          </a:p>
          <a:p>
            <a:pPr marL="0" lvl="0" indent="0" algn="r" rtl="0">
              <a:spcBef>
                <a:spcPts val="0"/>
              </a:spcBef>
              <a:spcAft>
                <a:spcPts val="0"/>
              </a:spcAft>
              <a:buNone/>
            </a:pPr>
            <a:endParaRPr lang="pt-BR" sz="3600" dirty="0">
              <a:solidFill>
                <a:schemeClr val="tx1"/>
              </a:solidFill>
              <a:latin typeface="Times New Roman" panose="02020603050405020304" pitchFamily="18" charset="0"/>
              <a:cs typeface="Times New Roman" panose="02020603050405020304" pitchFamily="18" charset="0"/>
            </a:endParaRPr>
          </a:p>
          <a:p>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C6DC0254-8166-930F-749F-432AD250F993}"/>
              </a:ext>
            </a:extLst>
          </p:cNvPr>
          <p:cNvSpPr txBox="1"/>
          <p:nvPr/>
        </p:nvSpPr>
        <p:spPr>
          <a:xfrm>
            <a:off x="667667" y="8326328"/>
            <a:ext cx="4800600" cy="1815882"/>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dirty="0">
                <a:solidFill>
                  <a:schemeClr val="tx1"/>
                </a:solidFill>
                <a:uFillTx/>
                <a:latin typeface="Times New Roman" panose="02020603050405020304" pitchFamily="18" charset="0"/>
                <a:cs typeface="Times New Roman" panose="02020603050405020304" pitchFamily="18" charset="0"/>
              </a:rPr>
              <a:t>PROJECT GUIDE:</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kern="1200" dirty="0">
                <a:solidFill>
                  <a:schemeClr val="tx1"/>
                </a:solidFill>
                <a:latin typeface="Times New Roman" panose="02020603050405020304" pitchFamily="18" charset="0"/>
                <a:cs typeface="Times New Roman" panose="02020603050405020304" pitchFamily="18" charset="0"/>
              </a:rPr>
              <a:t>Dr. </a:t>
            </a:r>
            <a:r>
              <a:rPr lang="en-US" sz="2800" kern="1200" dirty="0">
                <a:solidFill>
                  <a:schemeClr val="tx1"/>
                </a:solidFill>
                <a:latin typeface="Times New Roman" panose="02020603050405020304" pitchFamily="18" charset="0"/>
                <a:cs typeface="Times New Roman" panose="02020603050405020304" pitchFamily="18" charset="0"/>
              </a:rPr>
              <a:t>V </a:t>
            </a:r>
            <a:r>
              <a:rPr lang="en-US" sz="2800" kern="1200" dirty="0" err="1">
                <a:solidFill>
                  <a:schemeClr val="tx1"/>
                </a:solidFill>
                <a:latin typeface="Times New Roman" panose="02020603050405020304" pitchFamily="18" charset="0"/>
                <a:cs typeface="Times New Roman" panose="02020603050405020304" pitchFamily="18" charset="0"/>
              </a:rPr>
              <a:t>V</a:t>
            </a:r>
            <a:r>
              <a:rPr lang="en-US" sz="2800" kern="1200" dirty="0">
                <a:solidFill>
                  <a:schemeClr val="tx1"/>
                </a:solidFill>
                <a:latin typeface="Times New Roman" panose="02020603050405020304" pitchFamily="18" charset="0"/>
                <a:cs typeface="Times New Roman" panose="02020603050405020304" pitchFamily="18" charset="0"/>
              </a:rPr>
              <a:t> R </a:t>
            </a:r>
            <a:r>
              <a:rPr lang="en-US" sz="2800" kern="1200" dirty="0" err="1">
                <a:solidFill>
                  <a:schemeClr val="tx1"/>
                </a:solidFill>
                <a:latin typeface="Times New Roman" panose="02020603050405020304" pitchFamily="18" charset="0"/>
                <a:cs typeface="Times New Roman" panose="02020603050405020304" pitchFamily="18" charset="0"/>
              </a:rPr>
              <a:t>Maheswara</a:t>
            </a:r>
            <a:r>
              <a:rPr lang="en-US" sz="2800" kern="1200" dirty="0">
                <a:solidFill>
                  <a:schemeClr val="tx1"/>
                </a:solidFill>
                <a:latin typeface="Times New Roman" panose="02020603050405020304" pitchFamily="18" charset="0"/>
                <a:cs typeface="Times New Roman" panose="02020603050405020304" pitchFamily="18" charset="0"/>
              </a:rPr>
              <a:t> Rao</a:t>
            </a:r>
            <a:endParaRPr lang="en-US" sz="2800" b="1" i="0" u="none" strike="noStrike" kern="1200" cap="none" spc="0" baseline="0" dirty="0">
              <a:solidFill>
                <a:schemeClr val="tx1"/>
              </a:solidFill>
              <a:uFillTx/>
              <a:latin typeface="Times New Roman" panose="02020603050405020304" pitchFamily="18" charset="0"/>
              <a:cs typeface="Times New Roman" panose="02020603050405020304" pitchFamily="18" charset="0"/>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kern="1200" dirty="0">
                <a:solidFill>
                  <a:schemeClr val="tx1"/>
                </a:solidFill>
                <a:latin typeface="Times New Roman" panose="02020603050405020304" pitchFamily="18" charset="0"/>
                <a:cs typeface="Times New Roman" panose="02020603050405020304" pitchFamily="18" charset="0"/>
              </a:rPr>
              <a:t> </a:t>
            </a:r>
            <a:r>
              <a:rPr lang="en-US" sz="2800" kern="1200" dirty="0" err="1">
                <a:solidFill>
                  <a:schemeClr val="tx1"/>
                </a:solidFill>
                <a:latin typeface="Times New Roman" panose="02020603050405020304" pitchFamily="18" charset="0"/>
                <a:cs typeface="Times New Roman" panose="02020603050405020304" pitchFamily="18" charset="0"/>
              </a:rPr>
              <a:t>Professor,CSE</a:t>
            </a:r>
            <a:endParaRPr lang="en-IN" sz="2800" b="0" i="0" u="none" strike="noStrike" kern="1200" cap="none" spc="0" baseline="0" dirty="0">
              <a:solidFill>
                <a:schemeClr val="tx1"/>
              </a:solidFill>
              <a:uFillTx/>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EC88E9A-098D-C833-766E-7AE9C412D9B2}"/>
              </a:ext>
            </a:extLst>
          </p:cNvPr>
          <p:cNvSpPr txBox="1"/>
          <p:nvPr/>
        </p:nvSpPr>
        <p:spPr>
          <a:xfrm>
            <a:off x="7158103" y="4569199"/>
            <a:ext cx="326001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BATCH</a:t>
            </a:r>
            <a:r>
              <a:rPr lang="en-US" sz="2800" dirty="0">
                <a:latin typeface="Times New Roman" panose="02020603050405020304" pitchFamily="18" charset="0"/>
                <a:cs typeface="Times New Roman" panose="02020603050405020304" pitchFamily="18" charset="0"/>
              </a:rPr>
              <a:t>:10</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0" y="342900"/>
            <a:ext cx="11331819" cy="1264449"/>
          </a:xfrm>
          <a:prstGeom prst="rect">
            <a:avLst/>
          </a:prstGeom>
        </p:spPr>
        <p:txBody>
          <a:bodyPr vert="horz" wrap="square" lIns="0" tIns="581660" rIns="0" bIns="0" rtlCol="0">
            <a:spAutoFit/>
          </a:bodyPr>
          <a:lstStyle/>
          <a:p>
            <a:pPr algn="ctr">
              <a:lnSpc>
                <a:spcPct val="100000"/>
              </a:lnSpc>
              <a:spcBef>
                <a:spcPts val="4580"/>
              </a:spcBef>
            </a:pPr>
            <a:r>
              <a:rPr lang="en-IN" sz="4400" dirty="0">
                <a:latin typeface="Times New Roman" panose="02020603050405020304" pitchFamily="18" charset="0"/>
                <a:cs typeface="Times New Roman" panose="02020603050405020304" pitchFamily="18" charset="0"/>
              </a:rPr>
              <a:t>TABLE OF CONTENTS</a:t>
            </a:r>
            <a:endParaRPr sz="4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2042" y="6526097"/>
            <a:ext cx="3910147" cy="3760902"/>
          </a:xfrm>
          <a:prstGeom prst="rect">
            <a:avLst/>
          </a:prstGeom>
        </p:spPr>
      </p:pic>
      <p:sp>
        <p:nvSpPr>
          <p:cNvPr id="4" name="object 4"/>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53975" rIns="0" bIns="0" rtlCol="0">
            <a:spAutoFit/>
          </a:bodyPr>
          <a:lstStyle/>
          <a:p>
            <a:pPr marL="12700">
              <a:lnSpc>
                <a:spcPct val="100000"/>
              </a:lnSpc>
              <a:spcBef>
                <a:spcPts val="425"/>
              </a:spcBef>
            </a:pPr>
            <a:r>
              <a:rPr spc="-25" dirty="0"/>
              <a:t>01</a:t>
            </a:r>
          </a:p>
        </p:txBody>
      </p:sp>
      <p:sp>
        <p:nvSpPr>
          <p:cNvPr id="6" name="TextBox 5">
            <a:extLst>
              <a:ext uri="{FF2B5EF4-FFF2-40B4-BE49-F238E27FC236}">
                <a16:creationId xmlns:a16="http://schemas.microsoft.com/office/drawing/2014/main" id="{1519E267-A509-6DE7-613C-D10597085934}"/>
              </a:ext>
            </a:extLst>
          </p:cNvPr>
          <p:cNvSpPr txBox="1"/>
          <p:nvPr/>
        </p:nvSpPr>
        <p:spPr>
          <a:xfrm>
            <a:off x="2013296" y="2897348"/>
            <a:ext cx="12496800" cy="5755422"/>
          </a:xfrm>
          <a:prstGeom prst="rect">
            <a:avLst/>
          </a:prstGeom>
          <a:noFill/>
        </p:spPr>
        <p:txBody>
          <a:bodyPr wrap="square" rtlCol="0">
            <a:spAutoFit/>
          </a:bodyPr>
          <a:lstStyle/>
          <a:p>
            <a:pPr marL="324000" indent="-342900" algn="just">
              <a:spcBef>
                <a:spcPts val="600"/>
              </a:spcBef>
              <a:spcAft>
                <a:spcPts val="600"/>
              </a:spcAft>
              <a:buClr>
                <a:schemeClr val="tx1"/>
              </a:buClr>
              <a:buFont typeface="Wingdings" panose="05000000000000000000" pitchFamily="2" charset="2"/>
              <a:buChar char="Ø"/>
            </a:pPr>
            <a:r>
              <a:rPr lang="en-US" sz="4400" spc="150" dirty="0">
                <a:latin typeface="Times New Roman" panose="02020603050405020304" pitchFamily="18" charset="0"/>
                <a:cs typeface="Times New Roman" panose="02020603050405020304" pitchFamily="18" charset="0"/>
              </a:rPr>
              <a:t>ABSTRACT</a:t>
            </a:r>
            <a:endParaRPr lang="en-US" sz="4400" spc="150" dirty="0">
              <a:solidFill>
                <a:schemeClr val="tx1"/>
              </a:solidFill>
              <a:latin typeface="Times New Roman" panose="02020603050405020304" pitchFamily="18" charset="0"/>
              <a:cs typeface="Times New Roman" panose="02020603050405020304" pitchFamily="18" charset="0"/>
            </a:endParaRPr>
          </a:p>
          <a:p>
            <a:pPr marL="324000" indent="-342900" algn="just">
              <a:spcBef>
                <a:spcPts val="600"/>
              </a:spcBef>
              <a:spcAft>
                <a:spcPts val="600"/>
              </a:spcAft>
              <a:buClr>
                <a:schemeClr val="tx1"/>
              </a:buClr>
              <a:buFont typeface="Wingdings" panose="05000000000000000000" pitchFamily="2" charset="2"/>
              <a:buChar char="Ø"/>
            </a:pPr>
            <a:r>
              <a:rPr lang="en-US" sz="4400" spc="150" dirty="0">
                <a:solidFill>
                  <a:schemeClr val="tx1"/>
                </a:solidFill>
                <a:latin typeface="Times New Roman" panose="02020603050405020304" pitchFamily="18" charset="0"/>
                <a:cs typeface="Times New Roman" panose="02020603050405020304" pitchFamily="18" charset="0"/>
              </a:rPr>
              <a:t>INTRODUCTION</a:t>
            </a:r>
          </a:p>
          <a:p>
            <a:pPr marL="324000" indent="-342900" algn="just">
              <a:spcBef>
                <a:spcPts val="600"/>
              </a:spcBef>
              <a:spcAft>
                <a:spcPts val="600"/>
              </a:spcAft>
              <a:buClr>
                <a:schemeClr val="tx1"/>
              </a:buClr>
              <a:buFont typeface="Wingdings" panose="05000000000000000000" pitchFamily="2" charset="2"/>
              <a:buChar char="Ø"/>
            </a:pPr>
            <a:r>
              <a:rPr lang="en-US" sz="4400" spc="150" dirty="0">
                <a:latin typeface="Times New Roman" panose="02020603050405020304" pitchFamily="18" charset="0"/>
                <a:cs typeface="Times New Roman" panose="02020603050405020304" pitchFamily="18" charset="0"/>
              </a:rPr>
              <a:t>DESIGNS</a:t>
            </a:r>
          </a:p>
          <a:p>
            <a:pPr marL="324000" indent="-342900" algn="just">
              <a:spcBef>
                <a:spcPts val="600"/>
              </a:spcBef>
              <a:spcAft>
                <a:spcPts val="600"/>
              </a:spcAft>
              <a:buClr>
                <a:schemeClr val="tx1"/>
              </a:buClr>
              <a:buFont typeface="Wingdings" panose="05000000000000000000" pitchFamily="2" charset="2"/>
              <a:buChar char="Ø"/>
            </a:pPr>
            <a:r>
              <a:rPr lang="en-US" sz="4400" spc="150" dirty="0">
                <a:solidFill>
                  <a:schemeClr val="tx1"/>
                </a:solidFill>
                <a:latin typeface="Times New Roman" panose="02020603050405020304" pitchFamily="18" charset="0"/>
                <a:cs typeface="Times New Roman" panose="02020603050405020304" pitchFamily="18" charset="0"/>
              </a:rPr>
              <a:t>FLOWCHART</a:t>
            </a:r>
          </a:p>
          <a:p>
            <a:pPr marL="324000" indent="-342900" algn="just">
              <a:spcBef>
                <a:spcPts val="600"/>
              </a:spcBef>
              <a:spcAft>
                <a:spcPts val="600"/>
              </a:spcAft>
              <a:buClr>
                <a:schemeClr val="tx1"/>
              </a:buClr>
              <a:buFont typeface="Wingdings" panose="05000000000000000000" pitchFamily="2" charset="2"/>
              <a:buChar char="Ø"/>
            </a:pPr>
            <a:r>
              <a:rPr lang="en-US" sz="4400" spc="150" dirty="0">
                <a:latin typeface="Times New Roman" panose="02020603050405020304" pitchFamily="18" charset="0"/>
                <a:cs typeface="Times New Roman" panose="02020603050405020304" pitchFamily="18" charset="0"/>
              </a:rPr>
              <a:t>IMPLEMENTATION SCREENS</a:t>
            </a:r>
          </a:p>
          <a:p>
            <a:pPr marL="324000" indent="-342900" algn="just">
              <a:spcBef>
                <a:spcPts val="600"/>
              </a:spcBef>
              <a:spcAft>
                <a:spcPts val="600"/>
              </a:spcAft>
              <a:buClr>
                <a:schemeClr val="tx1"/>
              </a:buClr>
              <a:buFont typeface="Wingdings" panose="05000000000000000000" pitchFamily="2" charset="2"/>
              <a:buChar char="Ø"/>
            </a:pPr>
            <a:r>
              <a:rPr lang="en-US" sz="4400" spc="150" dirty="0">
                <a:solidFill>
                  <a:schemeClr val="tx1"/>
                </a:solidFill>
                <a:latin typeface="Times New Roman" panose="02020603050405020304" pitchFamily="18" charset="0"/>
                <a:cs typeface="Times New Roman" panose="02020603050405020304" pitchFamily="18" charset="0"/>
              </a:rPr>
              <a:t>REFERENCES</a:t>
            </a:r>
            <a:endParaRPr lang="en-IN" sz="4400" spc="150" dirty="0">
              <a:solidFill>
                <a:schemeClr val="tx1"/>
              </a:solidFill>
              <a:latin typeface="Times New Roman" panose="02020603050405020304" pitchFamily="18" charset="0"/>
              <a:cs typeface="Times New Roman" panose="02020603050405020304" pitchFamily="18" charset="0"/>
            </a:endParaRPr>
          </a:p>
          <a:p>
            <a:pPr marL="324000" indent="-342900" algn="just">
              <a:spcBef>
                <a:spcPts val="600"/>
              </a:spcBef>
              <a:spcAft>
                <a:spcPts val="600"/>
              </a:spcAft>
              <a:buClr>
                <a:schemeClr val="tx1"/>
              </a:buClr>
              <a:buFont typeface="Wingdings" panose="05000000000000000000" pitchFamily="2" charset="2"/>
              <a:buChar char="Ø"/>
            </a:pPr>
            <a:r>
              <a:rPr lang="en-IN" sz="4400" spc="150" dirty="0">
                <a:solidFill>
                  <a:schemeClr val="tx1"/>
                </a:solidFill>
                <a:latin typeface="Times New Roman" panose="02020603050405020304" pitchFamily="18" charset="0"/>
                <a:cs typeface="Times New Roman" panose="02020603050405020304" pitchFamily="18" charset="0"/>
              </a:rPr>
              <a:t>CONCLUSION</a:t>
            </a:r>
            <a:endParaRPr lang="en-IN" sz="4400" spc="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BF63D-9506-E86B-9E92-71B8B70475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E064BA-91E3-029A-97C3-AC81049842F5}"/>
              </a:ext>
            </a:extLst>
          </p:cNvPr>
          <p:cNvSpPr txBox="1">
            <a:spLocks noGrp="1"/>
          </p:cNvSpPr>
          <p:nvPr>
            <p:ph type="title"/>
          </p:nvPr>
        </p:nvSpPr>
        <p:spPr>
          <a:xfrm>
            <a:off x="2667000" y="159818"/>
            <a:ext cx="12703419" cy="1326004"/>
          </a:xfrm>
          <a:prstGeom prst="rect">
            <a:avLst/>
          </a:prstGeom>
        </p:spPr>
        <p:txBody>
          <a:bodyPr vert="horz" wrap="square" lIns="0" tIns="581660" rIns="0" bIns="0" rtlCol="0">
            <a:spAutoFit/>
          </a:bodyPr>
          <a:lstStyle/>
          <a:p>
            <a:pPr algn="ctr">
              <a:lnSpc>
                <a:spcPct val="100000"/>
              </a:lnSpc>
              <a:spcBef>
                <a:spcPts val="4580"/>
              </a:spcBef>
            </a:pPr>
            <a:r>
              <a:rPr lang="en-US" sz="4800" dirty="0">
                <a:latin typeface="Times New Roman" panose="02020603050405020304" pitchFamily="18" charset="0"/>
                <a:cs typeface="Times New Roman" panose="02020603050405020304" pitchFamily="18" charset="0"/>
              </a:rPr>
              <a:t>ABSTRACT</a:t>
            </a:r>
            <a:endParaRPr sz="4800" dirty="0">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8A72EBF6-2932-52FB-9DB0-043EB73E86FE}"/>
              </a:ext>
            </a:extLst>
          </p:cNvPr>
          <p:cNvPicPr/>
          <p:nvPr/>
        </p:nvPicPr>
        <p:blipFill>
          <a:blip r:embed="rId2" cstate="print"/>
          <a:stretch>
            <a:fillRect/>
          </a:stretch>
        </p:blipFill>
        <p:spPr>
          <a:xfrm>
            <a:off x="-2042" y="6526097"/>
            <a:ext cx="3910147" cy="3760902"/>
          </a:xfrm>
          <a:prstGeom prst="rect">
            <a:avLst/>
          </a:prstGeom>
        </p:spPr>
      </p:pic>
      <p:sp>
        <p:nvSpPr>
          <p:cNvPr id="4" name="object 4">
            <a:extLst>
              <a:ext uri="{FF2B5EF4-FFF2-40B4-BE49-F238E27FC236}">
                <a16:creationId xmlns:a16="http://schemas.microsoft.com/office/drawing/2014/main" id="{857ADA5C-FBCD-68AB-B3C8-F25515C5709B}"/>
              </a:ext>
            </a:extLst>
          </p:cNvPr>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5" name="object 5">
            <a:extLst>
              <a:ext uri="{FF2B5EF4-FFF2-40B4-BE49-F238E27FC236}">
                <a16:creationId xmlns:a16="http://schemas.microsoft.com/office/drawing/2014/main" id="{8885FC62-1AB3-2D63-F102-28760CE2A1D2}"/>
              </a:ext>
            </a:extLst>
          </p:cNvPr>
          <p:cNvSpPr txBox="1">
            <a:spLocks noGrp="1"/>
          </p:cNvSpPr>
          <p:nvPr>
            <p:ph type="sldNum" sz="quarter" idx="7"/>
          </p:nvPr>
        </p:nvSpPr>
        <p:spPr>
          <a:xfrm>
            <a:off x="16432389" y="9006877"/>
            <a:ext cx="835659" cy="785471"/>
          </a:xfrm>
          <a:prstGeom prst="rect">
            <a:avLst/>
          </a:prstGeom>
        </p:spPr>
        <p:txBody>
          <a:bodyPr vert="horz" wrap="square" lIns="0" tIns="53975" rIns="0" bIns="0" rtlCol="0">
            <a:spAutoFit/>
          </a:bodyPr>
          <a:lstStyle/>
          <a:p>
            <a:pPr marL="12700">
              <a:lnSpc>
                <a:spcPct val="100000"/>
              </a:lnSpc>
              <a:spcBef>
                <a:spcPts val="425"/>
              </a:spcBef>
            </a:pPr>
            <a:r>
              <a:rPr spc="-25" dirty="0"/>
              <a:t>0</a:t>
            </a:r>
            <a:r>
              <a:rPr lang="en-US" spc="-25" dirty="0"/>
              <a:t>2</a:t>
            </a:r>
            <a:endParaRPr spc="-25" dirty="0"/>
          </a:p>
        </p:txBody>
      </p:sp>
      <p:sp>
        <p:nvSpPr>
          <p:cNvPr id="6" name="TextBox 5">
            <a:extLst>
              <a:ext uri="{FF2B5EF4-FFF2-40B4-BE49-F238E27FC236}">
                <a16:creationId xmlns:a16="http://schemas.microsoft.com/office/drawing/2014/main" id="{D8B78D42-D3BF-460C-BC59-3A6E2A22E9FD}"/>
              </a:ext>
            </a:extLst>
          </p:cNvPr>
          <p:cNvSpPr txBox="1"/>
          <p:nvPr/>
        </p:nvSpPr>
        <p:spPr>
          <a:xfrm>
            <a:off x="2013296" y="2897348"/>
            <a:ext cx="15969904" cy="3785652"/>
          </a:xfrm>
          <a:prstGeom prst="rect">
            <a:avLst/>
          </a:prstGeom>
          <a:noFill/>
        </p:spPr>
        <p:txBody>
          <a:bodyPr wrap="square" rtlCol="0">
            <a:spAutoFit/>
          </a:bodyPr>
          <a:lstStyle/>
          <a:p>
            <a:pPr>
              <a:buClr>
                <a:schemeClr val="tx1"/>
              </a:buClr>
            </a:pPr>
            <a:r>
              <a:rPr lang="en-US" sz="4000" kern="0" dirty="0">
                <a:effectLst/>
                <a:latin typeface="Times New Roman" panose="02020603050405020304" pitchFamily="18" charset="0"/>
                <a:ea typeface="Arial MT"/>
                <a:cs typeface="Times New Roman" panose="02020603050405020304" pitchFamily="18" charset="0"/>
              </a:rPr>
              <a:t>This project is designed to detect malicious web shells uploaded to web servers. It scans files for dangerous code patterns using signature-based detection. The project also uses the </a:t>
            </a:r>
            <a:r>
              <a:rPr lang="en-US" sz="4000" kern="0" dirty="0" err="1">
                <a:effectLst/>
                <a:latin typeface="Times New Roman" panose="02020603050405020304" pitchFamily="18" charset="0"/>
                <a:ea typeface="Arial MT"/>
                <a:cs typeface="Times New Roman" panose="02020603050405020304" pitchFamily="18" charset="0"/>
              </a:rPr>
              <a:t>VirusTotal</a:t>
            </a:r>
            <a:r>
              <a:rPr lang="en-US" sz="4000" kern="0" dirty="0">
                <a:effectLst/>
                <a:latin typeface="Times New Roman" panose="02020603050405020304" pitchFamily="18" charset="0"/>
                <a:ea typeface="Arial MT"/>
                <a:cs typeface="Times New Roman" panose="02020603050405020304" pitchFamily="18" charset="0"/>
              </a:rPr>
              <a:t> API to check files against known threats online. All results are shown on a simple web dashboard, helping users identify and remove harmful files quickly. This system helps protect websites from remote attacks in an easy and efficient way.</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7109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39000" y="723900"/>
            <a:ext cx="4983585" cy="693138"/>
          </a:xfrm>
          <a:prstGeom prst="rect">
            <a:avLst/>
          </a:prstGeom>
        </p:spPr>
        <p:txBody>
          <a:bodyPr vert="horz" wrap="square" lIns="0" tIns="15875" rIns="0" bIns="0" rtlCol="0">
            <a:spAutoFit/>
          </a:bodyPr>
          <a:lstStyle/>
          <a:p>
            <a:pPr marL="12700">
              <a:lnSpc>
                <a:spcPct val="100000"/>
              </a:lnSpc>
              <a:spcBef>
                <a:spcPts val="125"/>
              </a:spcBef>
            </a:pPr>
            <a:r>
              <a:rPr lang="en-US" sz="4400" dirty="0">
                <a:latin typeface="Times New Roman" panose="02020603050405020304" pitchFamily="18" charset="0"/>
                <a:cs typeface="Times New Roman" panose="02020603050405020304" pitchFamily="18" charset="0"/>
              </a:rPr>
              <a:t>INTRODUCTION</a:t>
            </a:r>
            <a:endParaRPr sz="4400"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2042" y="6640398"/>
            <a:ext cx="3910147" cy="3760902"/>
          </a:xfrm>
          <a:prstGeom prst="rect">
            <a:avLst/>
          </a:prstGeom>
        </p:spPr>
      </p:pic>
      <p:sp>
        <p:nvSpPr>
          <p:cNvPr id="6" name="object 6"/>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53975" rIns="0" bIns="0" rtlCol="0">
            <a:spAutoFit/>
          </a:bodyPr>
          <a:lstStyle/>
          <a:p>
            <a:pPr marL="12700">
              <a:lnSpc>
                <a:spcPct val="100000"/>
              </a:lnSpc>
              <a:spcBef>
                <a:spcPts val="425"/>
              </a:spcBef>
            </a:pPr>
            <a:r>
              <a:rPr spc="-25" dirty="0"/>
              <a:t>03</a:t>
            </a:r>
          </a:p>
        </p:txBody>
      </p:sp>
      <p:sp>
        <p:nvSpPr>
          <p:cNvPr id="8" name="TextBox 7">
            <a:extLst>
              <a:ext uri="{FF2B5EF4-FFF2-40B4-BE49-F238E27FC236}">
                <a16:creationId xmlns:a16="http://schemas.microsoft.com/office/drawing/2014/main" id="{E1894C84-23CB-03A6-C92D-28B38B0F027A}"/>
              </a:ext>
            </a:extLst>
          </p:cNvPr>
          <p:cNvSpPr txBox="1"/>
          <p:nvPr/>
        </p:nvSpPr>
        <p:spPr>
          <a:xfrm>
            <a:off x="2296018" y="2220239"/>
            <a:ext cx="14554200" cy="618630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Web shells are dangerous scripts that allow attackers to remotely access and control a server. They are commonly uploaded through file upload vulnerabilities in web applications. Once installed, they can steal data, install malware, or take down the server. Detecting web shells is challenging as they often appear like normal files. This project introduces a simple, effective tool that automatically scans and alerts for such threats, helping system admins respond quickly.</a:t>
            </a:r>
            <a:r>
              <a:rPr lang="en-US" sz="3600" dirty="0"/>
              <a:t> </a:t>
            </a:r>
            <a:r>
              <a:rPr lang="en-US" sz="3600" dirty="0">
                <a:latin typeface="Times New Roman" panose="02020603050405020304" pitchFamily="18" charset="0"/>
                <a:cs typeface="Times New Roman" panose="02020603050405020304" pitchFamily="18" charset="0"/>
              </a:rPr>
              <a:t>Web shells are malicious files, often written in web scripting languages such as PHP, ASP, or JSP. </a:t>
            </a:r>
            <a:r>
              <a:rPr lang="en-US" sz="3600" b="0" i="0" dirty="0">
                <a:solidFill>
                  <a:schemeClr val="tx1"/>
                </a:solidFill>
                <a:effectLst/>
                <a:latin typeface="Times New Roman" panose="02020603050405020304" pitchFamily="18" charset="0"/>
                <a:cs typeface="Times New Roman" panose="02020603050405020304" pitchFamily="18" charset="0"/>
              </a:rPr>
              <a:t>Their stealthy behavior makes them hard to detect with conventional antivirus software. Therefore, effective web shell detection is crucial to the protection of web infrastructures against advanced persistent threats.</a:t>
            </a:r>
            <a:endParaRPr lang="en-IN" sz="3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744F0-AF8A-ADB7-6DE3-43FA7CB210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90179C-673E-1EE4-61CB-C895914F6778}"/>
              </a:ext>
            </a:extLst>
          </p:cNvPr>
          <p:cNvSpPr txBox="1">
            <a:spLocks noGrp="1"/>
          </p:cNvSpPr>
          <p:nvPr>
            <p:ph type="title"/>
          </p:nvPr>
        </p:nvSpPr>
        <p:spPr>
          <a:xfrm>
            <a:off x="5486400" y="1718489"/>
            <a:ext cx="8216550" cy="693138"/>
          </a:xfrm>
          <a:prstGeom prst="rect">
            <a:avLst/>
          </a:prstGeom>
        </p:spPr>
        <p:txBody>
          <a:bodyPr vert="horz" wrap="square" lIns="0" tIns="15875" rIns="0" bIns="0" rtlCol="0">
            <a:spAutoFit/>
          </a:bodyPr>
          <a:lstStyle/>
          <a:p>
            <a:pPr marL="12700">
              <a:lnSpc>
                <a:spcPct val="100000"/>
              </a:lnSpc>
              <a:spcBef>
                <a:spcPts val="125"/>
              </a:spcBef>
            </a:pPr>
            <a:r>
              <a:rPr lang="en-US" sz="4400" b="1" kern="1200" dirty="0">
                <a:solidFill>
                  <a:schemeClr val="tx1"/>
                </a:solidFill>
                <a:latin typeface="Times New Roman" panose="02020603050405020304" pitchFamily="18" charset="0"/>
                <a:cs typeface="Times New Roman" panose="02020603050405020304" pitchFamily="18" charset="0"/>
              </a:rPr>
              <a:t>DESIGN </a:t>
            </a:r>
            <a:endParaRPr sz="4400" dirty="0">
              <a:solidFill>
                <a:schemeClr val="tx1"/>
              </a:solidFill>
              <a:latin typeface="Times New Roman" panose="02020603050405020304" pitchFamily="18" charset="0"/>
              <a:cs typeface="Times New Roman" panose="02020603050405020304" pitchFamily="18" charset="0"/>
            </a:endParaRPr>
          </a:p>
        </p:txBody>
      </p:sp>
      <p:pic>
        <p:nvPicPr>
          <p:cNvPr id="7" name="object 7">
            <a:extLst>
              <a:ext uri="{FF2B5EF4-FFF2-40B4-BE49-F238E27FC236}">
                <a16:creationId xmlns:a16="http://schemas.microsoft.com/office/drawing/2014/main" id="{360C11AE-D17C-3E7D-0B71-D8BF60FA370F}"/>
              </a:ext>
            </a:extLst>
          </p:cNvPr>
          <p:cNvPicPr/>
          <p:nvPr/>
        </p:nvPicPr>
        <p:blipFill>
          <a:blip r:embed="rId2" cstate="print"/>
          <a:stretch>
            <a:fillRect/>
          </a:stretch>
        </p:blipFill>
        <p:spPr>
          <a:xfrm>
            <a:off x="-2042" y="6526097"/>
            <a:ext cx="3910147" cy="3760902"/>
          </a:xfrm>
          <a:prstGeom prst="rect">
            <a:avLst/>
          </a:prstGeom>
        </p:spPr>
      </p:pic>
      <p:sp>
        <p:nvSpPr>
          <p:cNvPr id="8" name="object 8">
            <a:extLst>
              <a:ext uri="{FF2B5EF4-FFF2-40B4-BE49-F238E27FC236}">
                <a16:creationId xmlns:a16="http://schemas.microsoft.com/office/drawing/2014/main" id="{BCFDB1DF-5754-D1CB-59B2-B2693D88AF6D}"/>
              </a:ext>
            </a:extLst>
          </p:cNvPr>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9" name="object 9">
            <a:extLst>
              <a:ext uri="{FF2B5EF4-FFF2-40B4-BE49-F238E27FC236}">
                <a16:creationId xmlns:a16="http://schemas.microsoft.com/office/drawing/2014/main" id="{5AE03976-1B0E-5CF6-E7C8-389D48C036E6}"/>
              </a:ext>
            </a:extLst>
          </p:cNvPr>
          <p:cNvSpPr txBox="1">
            <a:spLocks noGrp="1"/>
          </p:cNvSpPr>
          <p:nvPr>
            <p:ph type="sldNum" sz="quarter" idx="7"/>
          </p:nvPr>
        </p:nvSpPr>
        <p:spPr>
          <a:prstGeom prst="rect">
            <a:avLst/>
          </a:prstGeom>
        </p:spPr>
        <p:txBody>
          <a:bodyPr vert="horz" wrap="square" lIns="0" tIns="53975" rIns="0" bIns="0" rtlCol="0">
            <a:spAutoFit/>
          </a:bodyPr>
          <a:lstStyle/>
          <a:p>
            <a:pPr marL="12700">
              <a:lnSpc>
                <a:spcPct val="100000"/>
              </a:lnSpc>
              <a:spcBef>
                <a:spcPts val="425"/>
              </a:spcBef>
            </a:pPr>
            <a:r>
              <a:rPr spc="-25" dirty="0"/>
              <a:t>04</a:t>
            </a:r>
          </a:p>
        </p:txBody>
      </p:sp>
      <p:sp>
        <p:nvSpPr>
          <p:cNvPr id="10" name="TextBox 9">
            <a:extLst>
              <a:ext uri="{FF2B5EF4-FFF2-40B4-BE49-F238E27FC236}">
                <a16:creationId xmlns:a16="http://schemas.microsoft.com/office/drawing/2014/main" id="{45FE8BA8-DDD5-0D25-231B-AE6174FAB7D5}"/>
              </a:ext>
            </a:extLst>
          </p:cNvPr>
          <p:cNvSpPr txBox="1"/>
          <p:nvPr/>
        </p:nvSpPr>
        <p:spPr>
          <a:xfrm>
            <a:off x="1613606" y="3314700"/>
            <a:ext cx="15060788" cy="2862322"/>
          </a:xfrm>
          <a:prstGeom prst="rect">
            <a:avLst/>
          </a:prstGeom>
          <a:noFill/>
        </p:spPr>
        <p:txBody>
          <a:bodyPr wrap="square" rtlCol="0">
            <a:spAutoFit/>
          </a:bodyPr>
          <a:lstStyle/>
          <a:p>
            <a:r>
              <a:rPr lang="en-IN" sz="3600" dirty="0">
                <a:solidFill>
                  <a:schemeClr val="tx1"/>
                </a:solidFill>
                <a:latin typeface="Bell MT" panose="02020503060305020303" pitchFamily="18" charset="0"/>
              </a:rPr>
              <a:t>Programming Language : Python</a:t>
            </a:r>
          </a:p>
          <a:p>
            <a:r>
              <a:rPr lang="en-IN" sz="3600" dirty="0">
                <a:solidFill>
                  <a:schemeClr val="tx1"/>
                </a:solidFill>
                <a:latin typeface="Bell MT" panose="02020503060305020303" pitchFamily="18" charset="0"/>
              </a:rPr>
              <a:t>Frame Works : Flask</a:t>
            </a:r>
          </a:p>
          <a:p>
            <a:r>
              <a:rPr lang="en-IN" sz="3600" dirty="0">
                <a:solidFill>
                  <a:schemeClr val="tx1"/>
                </a:solidFill>
                <a:latin typeface="Bell MT" panose="02020503060305020303" pitchFamily="18" charset="0"/>
              </a:rPr>
              <a:t>Front End : HTML, </a:t>
            </a:r>
            <a:r>
              <a:rPr lang="en-IN" sz="3600" dirty="0" err="1">
                <a:solidFill>
                  <a:schemeClr val="tx1"/>
                </a:solidFill>
                <a:latin typeface="Bell MT" panose="02020503060305020303" pitchFamily="18" charset="0"/>
              </a:rPr>
              <a:t>CSS,JavaScript,Bootstrap</a:t>
            </a:r>
            <a:endParaRPr lang="en-IN" sz="3600" dirty="0">
              <a:solidFill>
                <a:schemeClr val="tx1"/>
              </a:solidFill>
              <a:latin typeface="Bell MT" panose="02020503060305020303" pitchFamily="18" charset="0"/>
            </a:endParaRPr>
          </a:p>
          <a:p>
            <a:r>
              <a:rPr lang="en-IN" sz="3600" dirty="0" err="1">
                <a:solidFill>
                  <a:schemeClr val="tx1"/>
                </a:solidFill>
                <a:latin typeface="Bell MT" panose="02020503060305020303" pitchFamily="18" charset="0"/>
              </a:rPr>
              <a:t>DateBase</a:t>
            </a:r>
            <a:r>
              <a:rPr lang="en-IN" sz="3600" dirty="0">
                <a:solidFill>
                  <a:schemeClr val="tx1"/>
                </a:solidFill>
                <a:latin typeface="Bell MT" panose="02020503060305020303" pitchFamily="18" charset="0"/>
              </a:rPr>
              <a:t>: </a:t>
            </a:r>
            <a:r>
              <a:rPr lang="en-IN" sz="3600" dirty="0" err="1">
                <a:solidFill>
                  <a:schemeClr val="tx1"/>
                </a:solidFill>
                <a:latin typeface="Bell MT" panose="02020503060305020303" pitchFamily="18" charset="0"/>
              </a:rPr>
              <a:t>MySql</a:t>
            </a:r>
            <a:endParaRPr lang="en-IN" sz="3600" dirty="0">
              <a:solidFill>
                <a:schemeClr val="tx1"/>
              </a:solidFill>
              <a:latin typeface="Bell MT" panose="02020503060305020303" pitchFamily="18" charset="0"/>
            </a:endParaRPr>
          </a:p>
          <a:p>
            <a:r>
              <a:rPr lang="en-IN" sz="3600" dirty="0">
                <a:solidFill>
                  <a:schemeClr val="tx1"/>
                </a:solidFill>
                <a:latin typeface="Bell MT" panose="02020503060305020303" pitchFamily="18" charset="0"/>
              </a:rPr>
              <a:t>API: </a:t>
            </a:r>
            <a:r>
              <a:rPr lang="en-IN" sz="3600" dirty="0" err="1">
                <a:solidFill>
                  <a:schemeClr val="tx1"/>
                </a:solidFill>
                <a:latin typeface="Bell MT" panose="02020503060305020303" pitchFamily="18" charset="0"/>
              </a:rPr>
              <a:t>VirusTotal</a:t>
            </a:r>
            <a:r>
              <a:rPr lang="en-IN" sz="3600" dirty="0">
                <a:solidFill>
                  <a:schemeClr val="tx1"/>
                </a:solidFill>
                <a:latin typeface="Bell MT" panose="02020503060305020303" pitchFamily="18" charset="0"/>
              </a:rPr>
              <a:t> API</a:t>
            </a:r>
          </a:p>
        </p:txBody>
      </p:sp>
    </p:spTree>
    <p:extLst>
      <p:ext uri="{BB962C8B-B14F-4D97-AF65-F5344CB8AC3E}">
        <p14:creationId xmlns:p14="http://schemas.microsoft.com/office/powerpoint/2010/main" val="2257777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3AC27-F7A6-0D6D-868F-0DF2E98812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90EAB4C-C371-FBC4-E5B8-41CC8BA28A04}"/>
              </a:ext>
            </a:extLst>
          </p:cNvPr>
          <p:cNvSpPr txBox="1">
            <a:spLocks noGrp="1"/>
          </p:cNvSpPr>
          <p:nvPr>
            <p:ph type="title"/>
          </p:nvPr>
        </p:nvSpPr>
        <p:spPr>
          <a:xfrm>
            <a:off x="1168105" y="3760903"/>
            <a:ext cx="4165895" cy="693138"/>
          </a:xfrm>
          <a:prstGeom prst="rect">
            <a:avLst/>
          </a:prstGeom>
        </p:spPr>
        <p:txBody>
          <a:bodyPr vert="horz" wrap="square" lIns="0" tIns="15875" rIns="0" bIns="0" rtlCol="0">
            <a:spAutoFit/>
          </a:bodyPr>
          <a:lstStyle/>
          <a:p>
            <a:pPr marL="12700">
              <a:lnSpc>
                <a:spcPct val="100000"/>
              </a:lnSpc>
              <a:spcBef>
                <a:spcPts val="125"/>
              </a:spcBef>
            </a:pPr>
            <a:r>
              <a:rPr lang="en-US" sz="4400" dirty="0">
                <a:solidFill>
                  <a:schemeClr val="tx1"/>
                </a:solidFill>
                <a:latin typeface="Times New Roman" panose="02020603050405020304" pitchFamily="18" charset="0"/>
                <a:cs typeface="Times New Roman" panose="02020603050405020304" pitchFamily="18" charset="0"/>
              </a:rPr>
              <a:t>FLOW CHART:</a:t>
            </a:r>
            <a:endParaRPr sz="4400" dirty="0">
              <a:solidFill>
                <a:schemeClr val="tx1"/>
              </a:solidFill>
              <a:latin typeface="Times New Roman" panose="02020603050405020304" pitchFamily="18" charset="0"/>
              <a:cs typeface="Times New Roman" panose="02020603050405020304" pitchFamily="18" charset="0"/>
            </a:endParaRPr>
          </a:p>
        </p:txBody>
      </p:sp>
      <p:pic>
        <p:nvPicPr>
          <p:cNvPr id="7" name="object 7">
            <a:extLst>
              <a:ext uri="{FF2B5EF4-FFF2-40B4-BE49-F238E27FC236}">
                <a16:creationId xmlns:a16="http://schemas.microsoft.com/office/drawing/2014/main" id="{C9AD2855-941D-5A1B-BC3C-36B904274DD9}"/>
              </a:ext>
            </a:extLst>
          </p:cNvPr>
          <p:cNvPicPr/>
          <p:nvPr/>
        </p:nvPicPr>
        <p:blipFill>
          <a:blip r:embed="rId2" cstate="print"/>
          <a:stretch>
            <a:fillRect/>
          </a:stretch>
        </p:blipFill>
        <p:spPr>
          <a:xfrm>
            <a:off x="-2042" y="6526097"/>
            <a:ext cx="3910147" cy="3760902"/>
          </a:xfrm>
          <a:prstGeom prst="rect">
            <a:avLst/>
          </a:prstGeom>
        </p:spPr>
      </p:pic>
      <p:sp>
        <p:nvSpPr>
          <p:cNvPr id="8" name="object 8">
            <a:extLst>
              <a:ext uri="{FF2B5EF4-FFF2-40B4-BE49-F238E27FC236}">
                <a16:creationId xmlns:a16="http://schemas.microsoft.com/office/drawing/2014/main" id="{759C2746-8EB5-C6B8-BF0D-96BD5A3C9BD5}"/>
              </a:ext>
            </a:extLst>
          </p:cNvPr>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9" name="object 9">
            <a:extLst>
              <a:ext uri="{FF2B5EF4-FFF2-40B4-BE49-F238E27FC236}">
                <a16:creationId xmlns:a16="http://schemas.microsoft.com/office/drawing/2014/main" id="{3C407C19-3EC4-E276-6D49-5FE5644F92A3}"/>
              </a:ext>
            </a:extLst>
          </p:cNvPr>
          <p:cNvSpPr txBox="1">
            <a:spLocks noGrp="1"/>
          </p:cNvSpPr>
          <p:nvPr>
            <p:ph type="sldNum" sz="quarter" idx="7"/>
          </p:nvPr>
        </p:nvSpPr>
        <p:spPr>
          <a:xfrm>
            <a:off x="16432389" y="9006877"/>
            <a:ext cx="835659" cy="785471"/>
          </a:xfrm>
          <a:prstGeom prst="rect">
            <a:avLst/>
          </a:prstGeom>
        </p:spPr>
        <p:txBody>
          <a:bodyPr vert="horz" wrap="square" lIns="0" tIns="53975" rIns="0" bIns="0" rtlCol="0">
            <a:spAutoFit/>
          </a:bodyPr>
          <a:lstStyle/>
          <a:p>
            <a:pPr marL="12700">
              <a:lnSpc>
                <a:spcPct val="100000"/>
              </a:lnSpc>
              <a:spcBef>
                <a:spcPts val="425"/>
              </a:spcBef>
            </a:pPr>
            <a:r>
              <a:rPr spc="-25" dirty="0"/>
              <a:t>0</a:t>
            </a:r>
            <a:r>
              <a:rPr lang="en-US" spc="-25" dirty="0"/>
              <a:t>5</a:t>
            </a:r>
            <a:endParaRPr spc="-25" dirty="0"/>
          </a:p>
        </p:txBody>
      </p:sp>
      <p:pic>
        <p:nvPicPr>
          <p:cNvPr id="10" name="Picture 9">
            <a:extLst>
              <a:ext uri="{FF2B5EF4-FFF2-40B4-BE49-F238E27FC236}">
                <a16:creationId xmlns:a16="http://schemas.microsoft.com/office/drawing/2014/main" id="{BF33A279-21C7-E115-74B4-71E70D664CFC}"/>
              </a:ext>
            </a:extLst>
          </p:cNvPr>
          <p:cNvPicPr>
            <a:picLocks noChangeAspect="1"/>
          </p:cNvPicPr>
          <p:nvPr/>
        </p:nvPicPr>
        <p:blipFill>
          <a:blip r:embed="rId3"/>
          <a:stretch>
            <a:fillRect/>
          </a:stretch>
        </p:blipFill>
        <p:spPr>
          <a:xfrm>
            <a:off x="5943600" y="406785"/>
            <a:ext cx="5970535" cy="8991598"/>
          </a:xfrm>
          <a:prstGeom prst="rect">
            <a:avLst/>
          </a:prstGeom>
        </p:spPr>
      </p:pic>
    </p:spTree>
    <p:extLst>
      <p:ext uri="{BB962C8B-B14F-4D97-AF65-F5344CB8AC3E}">
        <p14:creationId xmlns:p14="http://schemas.microsoft.com/office/powerpoint/2010/main" val="2092349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B03F-E8C5-624B-EFB4-07BA429A3AB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9704DE0-58C0-3852-0103-769EE18DFEEB}"/>
              </a:ext>
            </a:extLst>
          </p:cNvPr>
          <p:cNvSpPr txBox="1">
            <a:spLocks noGrp="1"/>
          </p:cNvSpPr>
          <p:nvPr>
            <p:ph type="title"/>
          </p:nvPr>
        </p:nvSpPr>
        <p:spPr>
          <a:xfrm>
            <a:off x="5410200" y="354416"/>
            <a:ext cx="8216550" cy="693138"/>
          </a:xfrm>
          <a:prstGeom prst="rect">
            <a:avLst/>
          </a:prstGeom>
        </p:spPr>
        <p:txBody>
          <a:bodyPr vert="horz" wrap="square" lIns="0" tIns="15875" rIns="0" bIns="0" rtlCol="0">
            <a:spAutoFit/>
          </a:bodyPr>
          <a:lstStyle/>
          <a:p>
            <a:pPr>
              <a:buClr>
                <a:schemeClr val="tx1"/>
              </a:buClr>
            </a:pPr>
            <a:r>
              <a:rPr lang="en-US" sz="4400" dirty="0">
                <a:latin typeface="Times New Roman" panose="02020603050405020304" pitchFamily="18" charset="0"/>
                <a:cs typeface="Times New Roman" panose="02020603050405020304" pitchFamily="18" charset="0"/>
              </a:rPr>
              <a:t>IMPLEMENTATION SCREENS</a:t>
            </a:r>
          </a:p>
        </p:txBody>
      </p:sp>
      <p:pic>
        <p:nvPicPr>
          <p:cNvPr id="7" name="object 7">
            <a:extLst>
              <a:ext uri="{FF2B5EF4-FFF2-40B4-BE49-F238E27FC236}">
                <a16:creationId xmlns:a16="http://schemas.microsoft.com/office/drawing/2014/main" id="{ABF1360B-DFD9-C6E0-B3CA-3A710366748E}"/>
              </a:ext>
            </a:extLst>
          </p:cNvPr>
          <p:cNvPicPr/>
          <p:nvPr/>
        </p:nvPicPr>
        <p:blipFill>
          <a:blip r:embed="rId2" cstate="print"/>
          <a:stretch>
            <a:fillRect/>
          </a:stretch>
        </p:blipFill>
        <p:spPr>
          <a:xfrm>
            <a:off x="-2042" y="6526097"/>
            <a:ext cx="3910147" cy="3760902"/>
          </a:xfrm>
          <a:prstGeom prst="rect">
            <a:avLst/>
          </a:prstGeom>
        </p:spPr>
      </p:pic>
      <p:sp>
        <p:nvSpPr>
          <p:cNvPr id="8" name="object 8">
            <a:extLst>
              <a:ext uri="{FF2B5EF4-FFF2-40B4-BE49-F238E27FC236}">
                <a16:creationId xmlns:a16="http://schemas.microsoft.com/office/drawing/2014/main" id="{7E152436-F224-6010-8256-1C1E46BD3FC7}"/>
              </a:ext>
            </a:extLst>
          </p:cNvPr>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9" name="object 9">
            <a:extLst>
              <a:ext uri="{FF2B5EF4-FFF2-40B4-BE49-F238E27FC236}">
                <a16:creationId xmlns:a16="http://schemas.microsoft.com/office/drawing/2014/main" id="{532CA444-1F73-F6E3-10D6-CCBC4B38F5F8}"/>
              </a:ext>
            </a:extLst>
          </p:cNvPr>
          <p:cNvSpPr txBox="1">
            <a:spLocks noGrp="1"/>
          </p:cNvSpPr>
          <p:nvPr>
            <p:ph type="sldNum" sz="quarter" idx="7"/>
          </p:nvPr>
        </p:nvSpPr>
        <p:spPr>
          <a:xfrm>
            <a:off x="16432389" y="9006877"/>
            <a:ext cx="835659" cy="785471"/>
          </a:xfrm>
          <a:prstGeom prst="rect">
            <a:avLst/>
          </a:prstGeom>
        </p:spPr>
        <p:txBody>
          <a:bodyPr vert="horz" wrap="square" lIns="0" tIns="53975" rIns="0" bIns="0" rtlCol="0">
            <a:spAutoFit/>
          </a:bodyPr>
          <a:lstStyle/>
          <a:p>
            <a:pPr marL="12700">
              <a:lnSpc>
                <a:spcPct val="100000"/>
              </a:lnSpc>
              <a:spcBef>
                <a:spcPts val="425"/>
              </a:spcBef>
            </a:pPr>
            <a:r>
              <a:rPr spc="-25" dirty="0"/>
              <a:t>0</a:t>
            </a:r>
            <a:r>
              <a:rPr lang="en-US" spc="-25" dirty="0"/>
              <a:t>6</a:t>
            </a:r>
            <a:endParaRPr spc="-25" dirty="0"/>
          </a:p>
        </p:txBody>
      </p:sp>
      <p:pic>
        <p:nvPicPr>
          <p:cNvPr id="4" name="Picture 3">
            <a:extLst>
              <a:ext uri="{FF2B5EF4-FFF2-40B4-BE49-F238E27FC236}">
                <a16:creationId xmlns:a16="http://schemas.microsoft.com/office/drawing/2014/main" id="{89FA0167-D73A-14C8-7E26-D7352772C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2332" y="1633522"/>
            <a:ext cx="8027867" cy="3719160"/>
          </a:xfrm>
          <a:prstGeom prst="rect">
            <a:avLst/>
          </a:prstGeom>
        </p:spPr>
      </p:pic>
      <p:pic>
        <p:nvPicPr>
          <p:cNvPr id="12" name="Picture 11">
            <a:extLst>
              <a:ext uri="{FF2B5EF4-FFF2-40B4-BE49-F238E27FC236}">
                <a16:creationId xmlns:a16="http://schemas.microsoft.com/office/drawing/2014/main" id="{46BFC843-EFD0-789E-72D0-9F6668EAAFD8}"/>
              </a:ext>
            </a:extLst>
          </p:cNvPr>
          <p:cNvPicPr>
            <a:picLocks noChangeAspect="1"/>
          </p:cNvPicPr>
          <p:nvPr/>
        </p:nvPicPr>
        <p:blipFill>
          <a:blip r:embed="rId4"/>
          <a:stretch>
            <a:fillRect/>
          </a:stretch>
        </p:blipFill>
        <p:spPr>
          <a:xfrm>
            <a:off x="14832189" y="1872808"/>
            <a:ext cx="3200400" cy="3385547"/>
          </a:xfrm>
          <a:prstGeom prst="rect">
            <a:avLst/>
          </a:prstGeom>
        </p:spPr>
      </p:pic>
      <p:pic>
        <p:nvPicPr>
          <p:cNvPr id="14" name="Picture 13">
            <a:extLst>
              <a:ext uri="{FF2B5EF4-FFF2-40B4-BE49-F238E27FC236}">
                <a16:creationId xmlns:a16="http://schemas.microsoft.com/office/drawing/2014/main" id="{DD03D4BD-703F-21AF-FB66-A399A91480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301" y="6287241"/>
            <a:ext cx="7409145" cy="3253078"/>
          </a:xfrm>
          <a:prstGeom prst="rect">
            <a:avLst/>
          </a:prstGeom>
        </p:spPr>
      </p:pic>
      <p:pic>
        <p:nvPicPr>
          <p:cNvPr id="16" name="Picture 15">
            <a:extLst>
              <a:ext uri="{FF2B5EF4-FFF2-40B4-BE49-F238E27FC236}">
                <a16:creationId xmlns:a16="http://schemas.microsoft.com/office/drawing/2014/main" id="{0AAF2DC7-095D-331E-9ACE-08FE18B00E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7185" y="1224107"/>
            <a:ext cx="5059689" cy="4349822"/>
          </a:xfrm>
          <a:prstGeom prst="rect">
            <a:avLst/>
          </a:prstGeom>
        </p:spPr>
      </p:pic>
      <p:pic>
        <p:nvPicPr>
          <p:cNvPr id="18" name="Picture 17">
            <a:extLst>
              <a:ext uri="{FF2B5EF4-FFF2-40B4-BE49-F238E27FC236}">
                <a16:creationId xmlns:a16="http://schemas.microsoft.com/office/drawing/2014/main" id="{1A7D1A25-16A3-4293-A472-26E6030F05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25115" y="5790307"/>
            <a:ext cx="8991600" cy="4116467"/>
          </a:xfrm>
          <a:prstGeom prst="rect">
            <a:avLst/>
          </a:prstGeom>
        </p:spPr>
      </p:pic>
      <p:sp>
        <p:nvSpPr>
          <p:cNvPr id="20" name="Arrow: Right 19">
            <a:extLst>
              <a:ext uri="{FF2B5EF4-FFF2-40B4-BE49-F238E27FC236}">
                <a16:creationId xmlns:a16="http://schemas.microsoft.com/office/drawing/2014/main" id="{18CB6BA0-04A0-D9D6-7E51-1076735317E8}"/>
              </a:ext>
            </a:extLst>
          </p:cNvPr>
          <p:cNvSpPr/>
          <p:nvPr/>
        </p:nvSpPr>
        <p:spPr>
          <a:xfrm>
            <a:off x="14309047" y="3419972"/>
            <a:ext cx="446413" cy="5333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6EE6820E-5AEB-F2CD-0250-0F4E6470DBC1}"/>
              </a:ext>
            </a:extLst>
          </p:cNvPr>
          <p:cNvSpPr/>
          <p:nvPr/>
        </p:nvSpPr>
        <p:spPr>
          <a:xfrm>
            <a:off x="8115515" y="7227614"/>
            <a:ext cx="609600" cy="7619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Left 21">
            <a:extLst>
              <a:ext uri="{FF2B5EF4-FFF2-40B4-BE49-F238E27FC236}">
                <a16:creationId xmlns:a16="http://schemas.microsoft.com/office/drawing/2014/main" id="{5866556B-25DD-A5AF-0B75-DE8C516775FD}"/>
              </a:ext>
            </a:extLst>
          </p:cNvPr>
          <p:cNvSpPr/>
          <p:nvPr/>
        </p:nvSpPr>
        <p:spPr>
          <a:xfrm>
            <a:off x="5739190" y="3226402"/>
            <a:ext cx="446413" cy="53339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Arrow: Down 2">
            <a:extLst>
              <a:ext uri="{FF2B5EF4-FFF2-40B4-BE49-F238E27FC236}">
                <a16:creationId xmlns:a16="http://schemas.microsoft.com/office/drawing/2014/main" id="{9538F0CB-0F30-8825-B04F-BCE8929CE72B}"/>
              </a:ext>
            </a:extLst>
          </p:cNvPr>
          <p:cNvSpPr/>
          <p:nvPr/>
        </p:nvSpPr>
        <p:spPr>
          <a:xfrm>
            <a:off x="3048000" y="5573929"/>
            <a:ext cx="609600" cy="7125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67285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AE9A9-F0E7-C6E7-2762-3D96FEAD2C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7C0E2E-2013-3DC6-ECDB-F475E88055F7}"/>
              </a:ext>
            </a:extLst>
          </p:cNvPr>
          <p:cNvSpPr txBox="1">
            <a:spLocks noGrp="1"/>
          </p:cNvSpPr>
          <p:nvPr>
            <p:ph type="title"/>
          </p:nvPr>
        </p:nvSpPr>
        <p:spPr>
          <a:xfrm>
            <a:off x="5486400" y="1718489"/>
            <a:ext cx="4038600" cy="693138"/>
          </a:xfrm>
          <a:prstGeom prst="rect">
            <a:avLst/>
          </a:prstGeom>
        </p:spPr>
        <p:txBody>
          <a:bodyPr vert="horz" wrap="square" lIns="0" tIns="15875" rIns="0" bIns="0" rtlCol="0">
            <a:spAutoFit/>
          </a:bodyPr>
          <a:lstStyle/>
          <a:p>
            <a:pPr algn="just">
              <a:spcBef>
                <a:spcPts val="600"/>
              </a:spcBef>
              <a:spcAft>
                <a:spcPts val="600"/>
              </a:spcAft>
              <a:buClr>
                <a:schemeClr val="tx1"/>
              </a:buClr>
            </a:pPr>
            <a:r>
              <a:rPr lang="en-US" sz="4400" spc="150" dirty="0">
                <a:solidFill>
                  <a:schemeClr val="tx1"/>
                </a:solidFill>
                <a:latin typeface="Times New Roman" panose="02020603050405020304" pitchFamily="18" charset="0"/>
                <a:cs typeface="Times New Roman" panose="02020603050405020304" pitchFamily="18" charset="0"/>
              </a:rPr>
              <a:t>REFERENCES</a:t>
            </a:r>
            <a:endParaRPr lang="en-IN" sz="4400" spc="150" dirty="0">
              <a:solidFill>
                <a:schemeClr val="tx1"/>
              </a:solidFill>
              <a:latin typeface="Times New Roman" panose="02020603050405020304" pitchFamily="18" charset="0"/>
              <a:cs typeface="Times New Roman" panose="02020603050405020304" pitchFamily="18" charset="0"/>
            </a:endParaRPr>
          </a:p>
        </p:txBody>
      </p:sp>
      <p:pic>
        <p:nvPicPr>
          <p:cNvPr id="7" name="object 7">
            <a:extLst>
              <a:ext uri="{FF2B5EF4-FFF2-40B4-BE49-F238E27FC236}">
                <a16:creationId xmlns:a16="http://schemas.microsoft.com/office/drawing/2014/main" id="{9C724070-9F6D-BB45-92BC-17BD41B6FF92}"/>
              </a:ext>
            </a:extLst>
          </p:cNvPr>
          <p:cNvPicPr/>
          <p:nvPr/>
        </p:nvPicPr>
        <p:blipFill>
          <a:blip r:embed="rId2" cstate="print"/>
          <a:stretch>
            <a:fillRect/>
          </a:stretch>
        </p:blipFill>
        <p:spPr>
          <a:xfrm>
            <a:off x="-2042" y="6526097"/>
            <a:ext cx="3910147" cy="3760902"/>
          </a:xfrm>
          <a:prstGeom prst="rect">
            <a:avLst/>
          </a:prstGeom>
        </p:spPr>
      </p:pic>
      <p:sp>
        <p:nvSpPr>
          <p:cNvPr id="8" name="object 8">
            <a:extLst>
              <a:ext uri="{FF2B5EF4-FFF2-40B4-BE49-F238E27FC236}">
                <a16:creationId xmlns:a16="http://schemas.microsoft.com/office/drawing/2014/main" id="{90A33D9D-E3F6-C1D0-9E3B-8182315DCFBB}"/>
              </a:ext>
            </a:extLst>
          </p:cNvPr>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9" name="object 9">
            <a:extLst>
              <a:ext uri="{FF2B5EF4-FFF2-40B4-BE49-F238E27FC236}">
                <a16:creationId xmlns:a16="http://schemas.microsoft.com/office/drawing/2014/main" id="{BFA7B51E-017C-95ED-A9C9-C0F7A306CBAF}"/>
              </a:ext>
            </a:extLst>
          </p:cNvPr>
          <p:cNvSpPr txBox="1">
            <a:spLocks noGrp="1"/>
          </p:cNvSpPr>
          <p:nvPr>
            <p:ph type="sldNum" sz="quarter" idx="7"/>
          </p:nvPr>
        </p:nvSpPr>
        <p:spPr>
          <a:xfrm>
            <a:off x="16432389" y="9006877"/>
            <a:ext cx="835659" cy="785471"/>
          </a:xfrm>
          <a:prstGeom prst="rect">
            <a:avLst/>
          </a:prstGeom>
        </p:spPr>
        <p:txBody>
          <a:bodyPr vert="horz" wrap="square" lIns="0" tIns="53975" rIns="0" bIns="0" rtlCol="0">
            <a:spAutoFit/>
          </a:bodyPr>
          <a:lstStyle/>
          <a:p>
            <a:pPr marL="12700">
              <a:lnSpc>
                <a:spcPct val="100000"/>
              </a:lnSpc>
              <a:spcBef>
                <a:spcPts val="425"/>
              </a:spcBef>
            </a:pPr>
            <a:r>
              <a:rPr spc="-25" dirty="0"/>
              <a:t>0</a:t>
            </a:r>
            <a:r>
              <a:rPr lang="en-US" spc="-25" dirty="0"/>
              <a:t>7</a:t>
            </a:r>
            <a:endParaRPr spc="-25" dirty="0"/>
          </a:p>
        </p:txBody>
      </p:sp>
      <p:sp>
        <p:nvSpPr>
          <p:cNvPr id="10" name="TextBox 9">
            <a:extLst>
              <a:ext uri="{FF2B5EF4-FFF2-40B4-BE49-F238E27FC236}">
                <a16:creationId xmlns:a16="http://schemas.microsoft.com/office/drawing/2014/main" id="{E35093D6-780D-E54E-B120-C768F5C6AD22}"/>
              </a:ext>
            </a:extLst>
          </p:cNvPr>
          <p:cNvSpPr txBox="1"/>
          <p:nvPr/>
        </p:nvSpPr>
        <p:spPr>
          <a:xfrm>
            <a:off x="1613606" y="3314700"/>
            <a:ext cx="15060788" cy="1200329"/>
          </a:xfrm>
          <a:prstGeom prst="rect">
            <a:avLst/>
          </a:prstGeom>
          <a:noFill/>
        </p:spPr>
        <p:txBody>
          <a:bodyPr wrap="square" rtlCol="0">
            <a:spAutoFit/>
          </a:bodyPr>
          <a:lstStyle/>
          <a:p>
            <a:r>
              <a:rPr lang="en-US" sz="3600" dirty="0" err="1">
                <a:solidFill>
                  <a:schemeClr val="tx1"/>
                </a:solidFill>
                <a:latin typeface="Bell MT" panose="02020503060305020303" pitchFamily="18" charset="0"/>
              </a:rPr>
              <a:t>ChatGpt:https</a:t>
            </a:r>
            <a:r>
              <a:rPr lang="en-US" sz="3600" dirty="0">
                <a:solidFill>
                  <a:schemeClr val="tx1"/>
                </a:solidFill>
                <a:latin typeface="Bell MT" panose="02020503060305020303" pitchFamily="18" charset="0"/>
              </a:rPr>
              <a:t>://chatgpt.com/c/6846f085-7f2c-8003-96ca-7b6bf6ba354f</a:t>
            </a:r>
          </a:p>
          <a:p>
            <a:r>
              <a:rPr lang="en-US" sz="3600" dirty="0" err="1">
                <a:solidFill>
                  <a:schemeClr val="tx1"/>
                </a:solidFill>
                <a:latin typeface="Bell MT" panose="02020503060305020303" pitchFamily="18" charset="0"/>
              </a:rPr>
              <a:t>VirusTotalAPI:https</a:t>
            </a:r>
            <a:r>
              <a:rPr lang="en-US" sz="3600" dirty="0">
                <a:solidFill>
                  <a:schemeClr val="tx1"/>
                </a:solidFill>
                <a:latin typeface="Bell MT" panose="02020503060305020303" pitchFamily="18" charset="0"/>
              </a:rPr>
              <a:t>://www.virustotal.com/gui/home/upload</a:t>
            </a:r>
            <a:endParaRPr lang="en-IN" sz="3600" dirty="0">
              <a:solidFill>
                <a:schemeClr val="tx1"/>
              </a:solidFill>
              <a:latin typeface="Bell MT" panose="02020503060305020303" pitchFamily="18" charset="0"/>
            </a:endParaRPr>
          </a:p>
        </p:txBody>
      </p:sp>
    </p:spTree>
    <p:extLst>
      <p:ext uri="{BB962C8B-B14F-4D97-AF65-F5344CB8AC3E}">
        <p14:creationId xmlns:p14="http://schemas.microsoft.com/office/powerpoint/2010/main" val="548594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F08B-49C4-8F2B-57E4-72F5416946F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A05F03-D112-2BF8-BF96-CF55CE585AA3}"/>
              </a:ext>
            </a:extLst>
          </p:cNvPr>
          <p:cNvSpPr txBox="1">
            <a:spLocks noGrp="1"/>
          </p:cNvSpPr>
          <p:nvPr>
            <p:ph type="title"/>
          </p:nvPr>
        </p:nvSpPr>
        <p:spPr>
          <a:xfrm>
            <a:off x="6172200" y="1897674"/>
            <a:ext cx="4648200" cy="693138"/>
          </a:xfrm>
          <a:prstGeom prst="rect">
            <a:avLst/>
          </a:prstGeom>
        </p:spPr>
        <p:txBody>
          <a:bodyPr vert="horz" wrap="square" lIns="0" tIns="15875" rIns="0" bIns="0" rtlCol="0">
            <a:spAutoFit/>
          </a:bodyPr>
          <a:lstStyle/>
          <a:p>
            <a:pPr algn="just">
              <a:spcBef>
                <a:spcPts val="600"/>
              </a:spcBef>
              <a:spcAft>
                <a:spcPts val="600"/>
              </a:spcAft>
              <a:buClr>
                <a:schemeClr val="tx1"/>
              </a:buClr>
            </a:pPr>
            <a:r>
              <a:rPr lang="en-IN" sz="4400" spc="150" dirty="0">
                <a:solidFill>
                  <a:schemeClr val="tx1"/>
                </a:solidFill>
                <a:latin typeface="Times New Roman" panose="02020603050405020304" pitchFamily="18" charset="0"/>
                <a:cs typeface="Times New Roman" panose="02020603050405020304" pitchFamily="18" charset="0"/>
              </a:rPr>
              <a:t>CONCLUSION</a:t>
            </a:r>
            <a:endParaRPr lang="en-IN" sz="4400" spc="150" dirty="0">
              <a:latin typeface="Times New Roman" panose="02020603050405020304" pitchFamily="18" charset="0"/>
              <a:cs typeface="Times New Roman" panose="02020603050405020304" pitchFamily="18" charset="0"/>
            </a:endParaRPr>
          </a:p>
        </p:txBody>
      </p:sp>
      <p:pic>
        <p:nvPicPr>
          <p:cNvPr id="7" name="object 7">
            <a:extLst>
              <a:ext uri="{FF2B5EF4-FFF2-40B4-BE49-F238E27FC236}">
                <a16:creationId xmlns:a16="http://schemas.microsoft.com/office/drawing/2014/main" id="{99A68FB2-321A-0122-D2E9-2D5F8D4CD9CD}"/>
              </a:ext>
            </a:extLst>
          </p:cNvPr>
          <p:cNvPicPr/>
          <p:nvPr/>
        </p:nvPicPr>
        <p:blipFill>
          <a:blip r:embed="rId2" cstate="print"/>
          <a:stretch>
            <a:fillRect/>
          </a:stretch>
        </p:blipFill>
        <p:spPr>
          <a:xfrm>
            <a:off x="-2042" y="6526097"/>
            <a:ext cx="3910147" cy="3760902"/>
          </a:xfrm>
          <a:prstGeom prst="rect">
            <a:avLst/>
          </a:prstGeom>
        </p:spPr>
      </p:pic>
      <p:sp>
        <p:nvSpPr>
          <p:cNvPr id="8" name="object 8">
            <a:extLst>
              <a:ext uri="{FF2B5EF4-FFF2-40B4-BE49-F238E27FC236}">
                <a16:creationId xmlns:a16="http://schemas.microsoft.com/office/drawing/2014/main" id="{9F370D20-7F03-062C-B984-28D0A0BD8781}"/>
              </a:ext>
            </a:extLst>
          </p:cNvPr>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9" name="object 9">
            <a:extLst>
              <a:ext uri="{FF2B5EF4-FFF2-40B4-BE49-F238E27FC236}">
                <a16:creationId xmlns:a16="http://schemas.microsoft.com/office/drawing/2014/main" id="{88859828-5EE4-E86A-7423-3A5192C5EFAD}"/>
              </a:ext>
            </a:extLst>
          </p:cNvPr>
          <p:cNvSpPr txBox="1">
            <a:spLocks noGrp="1"/>
          </p:cNvSpPr>
          <p:nvPr>
            <p:ph type="sldNum" sz="quarter" idx="7"/>
          </p:nvPr>
        </p:nvSpPr>
        <p:spPr>
          <a:xfrm>
            <a:off x="16432389" y="9006877"/>
            <a:ext cx="835659" cy="785471"/>
          </a:xfrm>
          <a:prstGeom prst="rect">
            <a:avLst/>
          </a:prstGeom>
        </p:spPr>
        <p:txBody>
          <a:bodyPr vert="horz" wrap="square" lIns="0" tIns="53975" rIns="0" bIns="0" rtlCol="0">
            <a:spAutoFit/>
          </a:bodyPr>
          <a:lstStyle/>
          <a:p>
            <a:pPr marL="12700">
              <a:lnSpc>
                <a:spcPct val="100000"/>
              </a:lnSpc>
              <a:spcBef>
                <a:spcPts val="425"/>
              </a:spcBef>
            </a:pPr>
            <a:r>
              <a:rPr spc="-25" dirty="0"/>
              <a:t>0</a:t>
            </a:r>
            <a:r>
              <a:rPr lang="en-US" spc="-25" dirty="0"/>
              <a:t>8</a:t>
            </a:r>
            <a:endParaRPr spc="-25" dirty="0"/>
          </a:p>
        </p:txBody>
      </p:sp>
      <p:sp>
        <p:nvSpPr>
          <p:cNvPr id="10" name="TextBox 9">
            <a:extLst>
              <a:ext uri="{FF2B5EF4-FFF2-40B4-BE49-F238E27FC236}">
                <a16:creationId xmlns:a16="http://schemas.microsoft.com/office/drawing/2014/main" id="{DB72AE12-E385-F4F0-7AE5-93998A9B6C43}"/>
              </a:ext>
            </a:extLst>
          </p:cNvPr>
          <p:cNvSpPr txBox="1"/>
          <p:nvPr/>
        </p:nvSpPr>
        <p:spPr>
          <a:xfrm>
            <a:off x="1613606" y="3314700"/>
            <a:ext cx="15060788" cy="5078313"/>
          </a:xfrm>
          <a:prstGeom prst="rect">
            <a:avLst/>
          </a:prstGeom>
          <a:noFill/>
        </p:spPr>
        <p:txBody>
          <a:bodyPr wrap="square" rtlCol="0">
            <a:spAutoFit/>
          </a:bodyPr>
          <a:lstStyle/>
          <a:p>
            <a:pPr>
              <a:buNone/>
            </a:pPr>
            <a:r>
              <a:rPr lang="en-US" sz="3600" dirty="0">
                <a:latin typeface="Times New Roman" panose="02020603050405020304" pitchFamily="18" charset="0"/>
                <a:cs typeface="Times New Roman" panose="02020603050405020304" pitchFamily="18" charset="0"/>
              </a:rPr>
              <a:t>In this project, we created a simple web application to scan and detect harmful files using the </a:t>
            </a:r>
            <a:r>
              <a:rPr lang="en-US" sz="3600" dirty="0" err="1">
                <a:latin typeface="Times New Roman" panose="02020603050405020304" pitchFamily="18" charset="0"/>
                <a:cs typeface="Times New Roman" panose="02020603050405020304" pitchFamily="18" charset="0"/>
              </a:rPr>
              <a:t>VirusTotal</a:t>
            </a:r>
            <a:r>
              <a:rPr lang="en-US" sz="3600" dirty="0">
                <a:latin typeface="Times New Roman" panose="02020603050405020304" pitchFamily="18" charset="0"/>
                <a:cs typeface="Times New Roman" panose="02020603050405020304" pitchFamily="18" charset="0"/>
              </a:rPr>
              <a:t> API. The user can upload a file and check if it is safe or not. We also added a feature to view the history of scanned files. The scan history shows the file name, scan time, result, and virus types. We added a login system to keep the history safe and only allow access to the right users.</a:t>
            </a:r>
          </a:p>
          <a:p>
            <a:r>
              <a:rPr lang="en-US" sz="3600" dirty="0">
                <a:latin typeface="Times New Roman" panose="02020603050405020304" pitchFamily="18" charset="0"/>
                <a:cs typeface="Times New Roman" panose="02020603050405020304" pitchFamily="18" charset="0"/>
              </a:rPr>
              <a:t>This project helps users stay safe by checking files before using them. It is easy to use, and the results are fast and reliable. In the future, we can improve this project by adding more scanning tools, better design, and user alert</a:t>
            </a:r>
          </a:p>
          <a:p>
            <a:endParaRPr lang="en-IN" sz="3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87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78090" y="2069826"/>
            <a:ext cx="11331819" cy="3918015"/>
          </a:xfrm>
          <a:prstGeom prst="rect">
            <a:avLst/>
          </a:prstGeom>
        </p:spPr>
        <p:txBody>
          <a:bodyPr vert="horz" wrap="square" lIns="0" tIns="2127523" rIns="0" bIns="0" rtlCol="0">
            <a:spAutoFit/>
          </a:bodyPr>
          <a:lstStyle/>
          <a:p>
            <a:pPr marL="1125855">
              <a:lnSpc>
                <a:spcPct val="100000"/>
              </a:lnSpc>
              <a:spcBef>
                <a:spcPts val="105"/>
              </a:spcBef>
            </a:pPr>
            <a:r>
              <a:rPr spc="365" dirty="0">
                <a:latin typeface="Times New Roman" panose="02020603050405020304" pitchFamily="18" charset="0"/>
                <a:cs typeface="Times New Roman" panose="02020603050405020304" pitchFamily="18" charset="0"/>
              </a:rPr>
              <a:t>THANK</a:t>
            </a:r>
            <a:r>
              <a:rPr spc="-254" dirty="0">
                <a:latin typeface="Times New Roman" panose="02020603050405020304" pitchFamily="18" charset="0"/>
                <a:cs typeface="Times New Roman" panose="02020603050405020304" pitchFamily="18" charset="0"/>
              </a:rPr>
              <a:t> </a:t>
            </a:r>
            <a:r>
              <a:rPr spc="165" dirty="0">
                <a:latin typeface="Times New Roman" panose="02020603050405020304" pitchFamily="18" charset="0"/>
                <a:cs typeface="Times New Roman" panose="02020603050405020304" pitchFamily="18" charset="0"/>
              </a:rPr>
              <a:t>YOU</a:t>
            </a:r>
          </a:p>
        </p:txBody>
      </p:sp>
      <p:pic>
        <p:nvPicPr>
          <p:cNvPr id="3" name="object 3"/>
          <p:cNvPicPr/>
          <p:nvPr/>
        </p:nvPicPr>
        <p:blipFill>
          <a:blip r:embed="rId2" cstate="print"/>
          <a:stretch>
            <a:fillRect/>
          </a:stretch>
        </p:blipFill>
        <p:spPr>
          <a:xfrm>
            <a:off x="-2042" y="6526097"/>
            <a:ext cx="3910147" cy="3760902"/>
          </a:xfrm>
          <a:prstGeom prst="rect">
            <a:avLst/>
          </a:prstGeom>
        </p:spPr>
      </p:pic>
      <p:sp>
        <p:nvSpPr>
          <p:cNvPr id="4" name="object 4"/>
          <p:cNvSpPr/>
          <p:nvPr/>
        </p:nvSpPr>
        <p:spPr>
          <a:xfrm>
            <a:off x="4541415" y="9464179"/>
            <a:ext cx="11673205" cy="0"/>
          </a:xfrm>
          <a:custGeom>
            <a:avLst/>
            <a:gdLst/>
            <a:ahLst/>
            <a:cxnLst/>
            <a:rect l="l" t="t" r="r" b="b"/>
            <a:pathLst>
              <a:path w="11673205">
                <a:moveTo>
                  <a:pt x="0" y="0"/>
                </a:moveTo>
                <a:lnTo>
                  <a:pt x="11672840" y="0"/>
                </a:lnTo>
              </a:path>
            </a:pathLst>
          </a:custGeom>
          <a:ln w="9524">
            <a:solidFill>
              <a:srgbClr val="535353"/>
            </a:solidFill>
          </a:ln>
        </p:spPr>
        <p:txBody>
          <a:bodyPr wrap="square" lIns="0" tIns="0" rIns="0" bIns="0" rtlCol="0"/>
          <a:lstStyle/>
          <a:p>
            <a:endParaRPr/>
          </a:p>
        </p:txBody>
      </p:sp>
      <p:sp>
        <p:nvSpPr>
          <p:cNvPr id="5" name="object 5"/>
          <p:cNvSpPr txBox="1"/>
          <p:nvPr/>
        </p:nvSpPr>
        <p:spPr>
          <a:xfrm>
            <a:off x="16497427" y="9006877"/>
            <a:ext cx="705485" cy="785471"/>
          </a:xfrm>
          <a:prstGeom prst="rect">
            <a:avLst/>
          </a:prstGeom>
        </p:spPr>
        <p:txBody>
          <a:bodyPr vert="horz" wrap="square" lIns="0" tIns="53975" rIns="0" bIns="0" rtlCol="0">
            <a:spAutoFit/>
          </a:bodyPr>
          <a:lstStyle/>
          <a:p>
            <a:pPr marL="12700">
              <a:lnSpc>
                <a:spcPct val="100000"/>
              </a:lnSpc>
              <a:spcBef>
                <a:spcPts val="425"/>
              </a:spcBef>
            </a:pPr>
            <a:r>
              <a:rPr lang="en-US" sz="4750" spc="-520" dirty="0">
                <a:solidFill>
                  <a:srgbClr val="535353"/>
                </a:solidFill>
                <a:latin typeface="Arial Black"/>
                <a:cs typeface="Arial Black"/>
              </a:rPr>
              <a:t>09</a:t>
            </a:r>
            <a:endParaRPr sz="4750" dirty="0">
              <a:latin typeface="Arial Black"/>
              <a:cs typeface="Arial Black"/>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560</TotalTime>
  <Words>470</Words>
  <Application>Microsoft Office PowerPoint</Application>
  <PresentationFormat>Custom</PresentationFormat>
  <Paragraphs>49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 Black</vt:lpstr>
      <vt:lpstr>Bell MT</vt:lpstr>
      <vt:lpstr>Lucida Sans Unicode</vt:lpstr>
      <vt:lpstr>Tahoma</vt:lpstr>
      <vt:lpstr>Times New Roman</vt:lpstr>
      <vt:lpstr>Wingdings</vt:lpstr>
      <vt:lpstr>Office Theme</vt:lpstr>
      <vt:lpstr>SHRI VISHNU ENGINEERING COLLEGE FOR WOMEN  AUTONOMOUS::BHIMAVARAM </vt:lpstr>
      <vt:lpstr>TABLE OF CONTENTS</vt:lpstr>
      <vt:lpstr>ABSTRACT</vt:lpstr>
      <vt:lpstr>INTRODUCTION</vt:lpstr>
      <vt:lpstr>DESIGN </vt:lpstr>
      <vt:lpstr>FLOW CHART:</vt:lpstr>
      <vt:lpstr>IMPLEMENTATION SCREENS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design</dc:title>
  <dc:creator>Tummalapalli Aasritha</dc:creator>
  <cp:keywords>DAGmXdTuimI,BAE5SG-GVCI,0</cp:keywords>
  <cp:lastModifiedBy>Sushma Srivalli Gayathri Anaparthi</cp:lastModifiedBy>
  <cp:revision>7</cp:revision>
  <dcterms:created xsi:type="dcterms:W3CDTF">2025-05-03T06:57:20Z</dcterms:created>
  <dcterms:modified xsi:type="dcterms:W3CDTF">2025-06-10T12:31:56Z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2025-05-03T00:00:00Z</vt:filetime>
  </property>
  <property fmtid="{D5CDD505-2E9C-101B-9397-08002B2CF9AE}" pid="3" name="Creator">
    <vt:lpwstr>Canva</vt:lpwstr>
  </property>
  <property fmtid="{D5CDD505-2E9C-101B-9397-08002B2CF9AE}" pid="4" name="LastSaved">
    <vt:filetime>2025-05-03T00:00:00Z</vt:filetime>
  </property>
  <property fmtid="{D5CDD505-2E9C-101B-9397-08002B2CF9AE}" pid="5" name="Producer">
    <vt:lpwstr>Canva</vt:lpwstr>
  </property>
</Properties>
</file>